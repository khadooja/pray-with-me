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0"/>
  </p:notesMasterIdLst>
  <p:sldIdLst>
    <p:sldId id="263" r:id="rId2"/>
    <p:sldId id="264" r:id="rId3"/>
    <p:sldId id="265" r:id="rId4"/>
    <p:sldId id="268" r:id="rId5"/>
    <p:sldId id="267" r:id="rId6"/>
    <p:sldId id="402" r:id="rId7"/>
    <p:sldId id="287" r:id="rId8"/>
    <p:sldId id="269" r:id="rId9"/>
    <p:sldId id="283" r:id="rId10"/>
    <p:sldId id="279" r:id="rId11"/>
    <p:sldId id="288" r:id="rId12"/>
    <p:sldId id="404" r:id="rId13"/>
    <p:sldId id="405" r:id="rId14"/>
    <p:sldId id="406" r:id="rId15"/>
    <p:sldId id="403" r:id="rId16"/>
    <p:sldId id="289" r:id="rId17"/>
    <p:sldId id="409" r:id="rId18"/>
    <p:sldId id="408" r:id="rId19"/>
    <p:sldId id="410" r:id="rId20"/>
    <p:sldId id="290" r:id="rId21"/>
    <p:sldId id="411" r:id="rId22"/>
    <p:sldId id="291" r:id="rId23"/>
    <p:sldId id="407" r:id="rId24"/>
    <p:sldId id="401" r:id="rId25"/>
    <p:sldId id="413" r:id="rId26"/>
    <p:sldId id="412" r:id="rId27"/>
    <p:sldId id="274" r:id="rId28"/>
    <p:sldId id="286" r:id="rId29"/>
  </p:sldIdLst>
  <p:sldSz cx="18288000" cy="10287000"/>
  <p:notesSz cx="6858000" cy="9144000"/>
  <p:embeddedFontLst>
    <p:embeddedFont>
      <p:font typeface="Readex Pro" panose="020B0604020202020204" charset="-78"/>
      <p:regular r:id="rId31"/>
      <p:bold r:id="rId32"/>
    </p:embeddedFont>
    <p:embeddedFont>
      <p:font typeface="Readex Pro Light" panose="020B0604020202020204" charset="-78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9" roundtripDataSignature="AMtx7mh1GeQrG1kO//gaBT9ZQp796F1r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B0D6"/>
    <a:srgbClr val="B9AEFF"/>
    <a:srgbClr val="2FEEC3"/>
    <a:srgbClr val="6989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8ED9858-D163-4338-9E88-1F424354888F}">
  <a:tblStyle styleId="{B8ED9858-D163-4338-9E88-1F42435488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9" d="100"/>
          <a:sy n="3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L="914400" lvl="1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marL="1371600" lvl="2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marL="1828800" lvl="3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marL="2286000" lvl="4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marL="2743200" lvl="5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marL="3200400" lvl="6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marL="3657600" lvl="7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marL="4114800" lvl="8" indent="-228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1" name="Google Shape;481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استبدل اسم المشروع والوصف واسم الفريق والتاريخ. اجعل اسم المشروع موجزًا. اكتب في الوصف ما يقدمه الحل ولمن. احتفظ بشعار باذل وشعار التحدي كما هما.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482" name="Google Shape;482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5" name="Google Shape;495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عرّف بأقسام العرض في كلمات قليلة. عدّل العدد بحسب أقسامك، واحذف العناصر التي لا تحتاجها.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496" name="Google Shape;496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استخدم هذه الشريحة بين الأقسام الرئيسة عند الحاجة. غيّر الرقم والعنوان والجملة التمهيدية.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24" name="Google Shape;52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67" name="Google Shape;56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أضف لقطة شاشة أو صورة بنسبة تقارب 16:9. ضع تفسيرًا بجانبها، واحذف أي بيانات شخصية من لقطات الاختبار قبل استخدامها.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568" name="Google Shape;56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3" name="Google Shape;553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استخدم فقرة واحدة قصيرة. اجعل السطر بطول مريح للقراءة. يمكن حذف العنوان الداعم والملاحظة عند عدم الحاجة.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54" name="Google Shape;554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6991A6A8-DBB4-4647-96C1-66FA8A1AB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>
            <a:extLst>
              <a:ext uri="{FF2B5EF4-FFF2-40B4-BE49-F238E27FC236}">
                <a16:creationId xmlns:a16="http://schemas.microsoft.com/office/drawing/2014/main" id="{08A425CD-7DA2-D9B5-7AFE-698201372D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10:notes">
            <a:extLst>
              <a:ext uri="{FF2B5EF4-FFF2-40B4-BE49-F238E27FC236}">
                <a16:creationId xmlns:a16="http://schemas.microsoft.com/office/drawing/2014/main" id="{606B22D2-0DC0-CB37-29BA-9D158BEAA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استخدم هذه الشريحة بين الأقسام الرئيسة عند الحاجة. غيّر الرقم والعنوان والجملة التمهيدية.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24" name="Google Shape;524;p10:notes">
            <a:extLst>
              <a:ext uri="{FF2B5EF4-FFF2-40B4-BE49-F238E27FC236}">
                <a16:creationId xmlns:a16="http://schemas.microsoft.com/office/drawing/2014/main" id="{367CD93E-8377-6EDD-2E13-92E58EDEBB5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87112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83" name="Google Shape;583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هذا العنصر النائب مربع بنسبة 1:1. أضف الصورة ثم اضبط القص لتحافظ على الموضوع الأساسي داخل الإطار.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584" name="Google Shape;584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78" name="Google Shape;878;p2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قارن الخيارين باستخدام الأبعاد نفسها، مع وصف منصف لكل خيار. يمكن استخدام هذا النموذج لمقارنة الوضع الحالي والحل المقترح.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879" name="Google Shape;879;p2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Google Shape;814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التسلسل من اليمين إلى اليسار: المدخلات، ثم المعالجة، ثم المخرجات، ثم الأثر على المستخدم. استبدل النصوص بين الأقواس بما يناسب مشروعك. كل مرحلة مربع نص واحد قابل للتحرير، ويمكن تكراره أو حذفه. حافظ على تساوي المسافات عند تعديل عدد المراحل.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815" name="Google Shape;815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BDF5351C-F39F-A535-73C2-4BDCB951F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>
            <a:extLst>
              <a:ext uri="{FF2B5EF4-FFF2-40B4-BE49-F238E27FC236}">
                <a16:creationId xmlns:a16="http://schemas.microsoft.com/office/drawing/2014/main" id="{2AC6C8C7-324D-2395-E417-FFC3806614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10:notes">
            <a:extLst>
              <a:ext uri="{FF2B5EF4-FFF2-40B4-BE49-F238E27FC236}">
                <a16:creationId xmlns:a16="http://schemas.microsoft.com/office/drawing/2014/main" id="{B027FF7D-958F-1F3D-7BA3-1940934439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استخدم هذه الشريحة بين الأقسام الرئيسة عند الحاجة. غيّر الرقم والعنوان والجملة التمهيدية.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24" name="Google Shape;524;p10:notes">
            <a:extLst>
              <a:ext uri="{FF2B5EF4-FFF2-40B4-BE49-F238E27FC236}">
                <a16:creationId xmlns:a16="http://schemas.microsoft.com/office/drawing/2014/main" id="{0BC4E454-D4CD-9CAE-9EE1-44B7B528FA6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6516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A1BEB656-5143-8E79-DB60-2412C93DF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>
            <a:extLst>
              <a:ext uri="{FF2B5EF4-FFF2-40B4-BE49-F238E27FC236}">
                <a16:creationId xmlns:a16="http://schemas.microsoft.com/office/drawing/2014/main" id="{CCD6003B-ECF0-8C50-0EAC-36384A8E69D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3" name="Google Shape;533;p11:notes">
            <a:extLst>
              <a:ext uri="{FF2B5EF4-FFF2-40B4-BE49-F238E27FC236}">
                <a16:creationId xmlns:a16="http://schemas.microsoft.com/office/drawing/2014/main" id="{D419829C-B11C-A86E-760A-905E83DE8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اكتب عنوانًا واضحًا لكل نقطة وشرحًا قصيرًا. يمكن استخدام هذا التخطيط لملخص المشكلة أو مميزات الحل. لا تضف نقاطًا لا تحتاجها لمجرد ملء المساحة.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34" name="Google Shape;534;p11:notes">
            <a:extLst>
              <a:ext uri="{FF2B5EF4-FFF2-40B4-BE49-F238E27FC236}">
                <a16:creationId xmlns:a16="http://schemas.microsoft.com/office/drawing/2014/main" id="{34344CDD-1796-3494-6931-4F608DF4930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5607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D526489F-1A39-E7BF-721B-1E066B141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>
            <a:extLst>
              <a:ext uri="{FF2B5EF4-FFF2-40B4-BE49-F238E27FC236}">
                <a16:creationId xmlns:a16="http://schemas.microsoft.com/office/drawing/2014/main" id="{9CDA7960-5AC4-F8BE-E813-A4784934F7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3" name="Google Shape;533;p11:notes">
            <a:extLst>
              <a:ext uri="{FF2B5EF4-FFF2-40B4-BE49-F238E27FC236}">
                <a16:creationId xmlns:a16="http://schemas.microsoft.com/office/drawing/2014/main" id="{07C42E49-B543-8413-9170-5D22D7B098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اكتب عنوانًا واضحًا لكل نقطة وشرحًا قصيرًا. يمكن استخدام هذا التخطيط لملخص المشكلة أو مميزات الحل. لا تضف نقاطًا لا تحتاجها لمجرد ملء المساحة.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34" name="Google Shape;534;p11:notes">
            <a:extLst>
              <a:ext uri="{FF2B5EF4-FFF2-40B4-BE49-F238E27FC236}">
                <a16:creationId xmlns:a16="http://schemas.microsoft.com/office/drawing/2014/main" id="{06783CA4-17EE-7AF7-6F63-08E8EC06ED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863537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353A2F51-33C6-F371-720A-D081ED518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>
            <a:extLst>
              <a:ext uri="{FF2B5EF4-FFF2-40B4-BE49-F238E27FC236}">
                <a16:creationId xmlns:a16="http://schemas.microsoft.com/office/drawing/2014/main" id="{32AF5226-08F1-64B4-9ACE-3FEA873C03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3" name="Google Shape;533;p11:notes">
            <a:extLst>
              <a:ext uri="{FF2B5EF4-FFF2-40B4-BE49-F238E27FC236}">
                <a16:creationId xmlns:a16="http://schemas.microsoft.com/office/drawing/2014/main" id="{2A89529A-9AA8-6FE0-1354-FC610DB626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اكتب عنوانًا واضحًا لكل نقطة وشرحًا قصيرًا. يمكن استخدام هذا التخطيط لملخص المشكلة أو مميزات الحل. لا تضف نقاطًا لا تحتاجها لمجرد ملء المساحة.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34" name="Google Shape;534;p11:notes">
            <a:extLst>
              <a:ext uri="{FF2B5EF4-FFF2-40B4-BE49-F238E27FC236}">
                <a16:creationId xmlns:a16="http://schemas.microsoft.com/office/drawing/2014/main" id="{FC7BB07F-2EFF-C91D-E8F6-E69658C59B3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4890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>
          <a:extLst>
            <a:ext uri="{FF2B5EF4-FFF2-40B4-BE49-F238E27FC236}">
              <a16:creationId xmlns:a16="http://schemas.microsoft.com/office/drawing/2014/main" id="{42952596-8255-14D3-FC28-5F5A99182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1:notes">
            <a:extLst>
              <a:ext uri="{FF2B5EF4-FFF2-40B4-BE49-F238E27FC236}">
                <a16:creationId xmlns:a16="http://schemas.microsoft.com/office/drawing/2014/main" id="{520D9E2B-F642-989F-5D0B-142B862E5B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3" name="Google Shape;533;p11:notes">
            <a:extLst>
              <a:ext uri="{FF2B5EF4-FFF2-40B4-BE49-F238E27FC236}">
                <a16:creationId xmlns:a16="http://schemas.microsoft.com/office/drawing/2014/main" id="{1AB0CE90-7457-8E54-5842-D1D0AA079A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اكتب عنوانًا واضحًا لكل نقطة وشرحًا قصيرًا. يمكن استخدام هذا التخطيط لملخص المشكلة أو مميزات الحل. لا تضف نقاطًا لا تحتاجها لمجرد ملء المساحة.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34" name="Google Shape;534;p11:notes">
            <a:extLst>
              <a:ext uri="{FF2B5EF4-FFF2-40B4-BE49-F238E27FC236}">
                <a16:creationId xmlns:a16="http://schemas.microsoft.com/office/drawing/2014/main" id="{4D68AD84-3B02-0E4E-6830-CCF149CB01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557744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>
          <a:extLst>
            <a:ext uri="{FF2B5EF4-FFF2-40B4-BE49-F238E27FC236}">
              <a16:creationId xmlns:a16="http://schemas.microsoft.com/office/drawing/2014/main" id="{A3A9F106-B8B4-67F1-1B28-5439A4283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0:notes">
            <a:extLst>
              <a:ext uri="{FF2B5EF4-FFF2-40B4-BE49-F238E27FC236}">
                <a16:creationId xmlns:a16="http://schemas.microsoft.com/office/drawing/2014/main" id="{09117DFE-FFDF-68B1-1012-CBF5FA5B0B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3" name="Google Shape;523;p10:notes">
            <a:extLst>
              <a:ext uri="{FF2B5EF4-FFF2-40B4-BE49-F238E27FC236}">
                <a16:creationId xmlns:a16="http://schemas.microsoft.com/office/drawing/2014/main" id="{0D6E7F51-8C53-BB26-C84B-6E6ADE1A25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استخدم هذه الشريحة بين الأقسام الرئيسة عند الحاجة. غيّر الرقم والعنوان والجملة التمهيدية.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524" name="Google Shape;524;p10:notes">
            <a:extLst>
              <a:ext uri="{FF2B5EF4-FFF2-40B4-BE49-F238E27FC236}">
                <a16:creationId xmlns:a16="http://schemas.microsoft.com/office/drawing/2014/main" id="{876106F4-41EF-0703-B909-993F797A87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41655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>
          <a:extLst>
            <a:ext uri="{FF2B5EF4-FFF2-40B4-BE49-F238E27FC236}">
              <a16:creationId xmlns:a16="http://schemas.microsoft.com/office/drawing/2014/main" id="{F43CA8EE-5D7F-F616-670F-32F83E834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>
            <a:extLst>
              <a:ext uri="{FF2B5EF4-FFF2-40B4-BE49-F238E27FC236}">
                <a16:creationId xmlns:a16="http://schemas.microsoft.com/office/drawing/2014/main" id="{BF0DD64B-618A-DD10-D4EA-1E0207E6A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55" name="Google Shape;855;p27:notes">
            <a:extLst>
              <a:ext uri="{FF2B5EF4-FFF2-40B4-BE49-F238E27FC236}">
                <a16:creationId xmlns:a16="http://schemas.microsoft.com/office/drawing/2014/main" id="{4EC5548B-1E41-C796-1691-272334AF5E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الأيقونات الأربع صور أصلية من القالب المرفق، ويمكن تحريكها وتغيير حجمها مع الحفاظ على النسب. كرّر الأيقونة التي تحتاجها. هذه الصفحة لا تدّعي توافر مكتبة أيقونات إضافية غير مرفقة.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856" name="Google Shape;856;p27:notes">
            <a:extLst>
              <a:ext uri="{FF2B5EF4-FFF2-40B4-BE49-F238E27FC236}">
                <a16:creationId xmlns:a16="http://schemas.microsoft.com/office/drawing/2014/main" id="{146003EC-5FFB-C83D-3972-67E8735D36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79335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3">
          <a:extLst>
            <a:ext uri="{FF2B5EF4-FFF2-40B4-BE49-F238E27FC236}">
              <a16:creationId xmlns:a16="http://schemas.microsoft.com/office/drawing/2014/main" id="{FB6F0C01-D07A-0850-226B-5E75DE08D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27:notes">
            <a:extLst>
              <a:ext uri="{FF2B5EF4-FFF2-40B4-BE49-F238E27FC236}">
                <a16:creationId xmlns:a16="http://schemas.microsoft.com/office/drawing/2014/main" id="{78615812-C9FD-0F23-5F15-8471B2EA8E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855" name="Google Shape;855;p27:notes">
            <a:extLst>
              <a:ext uri="{FF2B5EF4-FFF2-40B4-BE49-F238E27FC236}">
                <a16:creationId xmlns:a16="http://schemas.microsoft.com/office/drawing/2014/main" id="{5080FEB0-236C-4FA2-7751-CF05C301D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الأيقونات الأربع صور أصلية من القالب المرفق، ويمكن تحريكها وتغيير حجمها مع الحفاظ على النسب. كرّر الأيقونة التي تحتاجها. هذه الصفحة لا تدّعي توافر مكتبة أيقونات إضافية غير مرفقة.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856" name="Google Shape;856;p27:notes">
            <a:extLst>
              <a:ext uri="{FF2B5EF4-FFF2-40B4-BE49-F238E27FC236}">
                <a16:creationId xmlns:a16="http://schemas.microsoft.com/office/drawing/2014/main" id="{923B5BB6-8E03-FF5D-2754-1444B1659BC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502618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E54A815-5DBE-C47F-CDE4-2C3663CE7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>
            <a:extLst>
              <a:ext uri="{FF2B5EF4-FFF2-40B4-BE49-F238E27FC236}">
                <a16:creationId xmlns:a16="http://schemas.microsoft.com/office/drawing/2014/main" id="{8F3C7721-8884-FFB4-CF7E-393D7FD506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95" name="Google Shape;495;p9:notes">
            <a:extLst>
              <a:ext uri="{FF2B5EF4-FFF2-40B4-BE49-F238E27FC236}">
                <a16:creationId xmlns:a16="http://schemas.microsoft.com/office/drawing/2014/main" id="{AB3247F1-2E37-3B37-4994-41F65A5CBC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عرّف بأقسام العرض في كلمات قليلة. عدّل العدد بحسب أقسامك، واحذف العناصر التي لا تحتاجها.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496" name="Google Shape;496;p9:notes">
            <a:extLst>
              <a:ext uri="{FF2B5EF4-FFF2-40B4-BE49-F238E27FC236}">
                <a16:creationId xmlns:a16="http://schemas.microsoft.com/office/drawing/2014/main" id="{D535F889-7985-4DD2-0679-1C67363387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665337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2">
          <a:extLst>
            <a:ext uri="{FF2B5EF4-FFF2-40B4-BE49-F238E27FC236}">
              <a16:creationId xmlns:a16="http://schemas.microsoft.com/office/drawing/2014/main" id="{5141D5CF-41E4-2A70-5D96-C519CCF84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3" name="Google Shape;813;p24:notes">
            <a:extLst>
              <a:ext uri="{FF2B5EF4-FFF2-40B4-BE49-F238E27FC236}">
                <a16:creationId xmlns:a16="http://schemas.microsoft.com/office/drawing/2014/main" id="{E66D48D6-3015-DBB0-7BB9-736506946D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4" name="Google Shape;814;p24:notes">
            <a:extLst>
              <a:ext uri="{FF2B5EF4-FFF2-40B4-BE49-F238E27FC236}">
                <a16:creationId xmlns:a16="http://schemas.microsoft.com/office/drawing/2014/main" id="{C55BABF8-D83D-FC51-878E-4AB483AEB9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التسلسل من اليمين إلى اليسار: المدخلات، ثم المعالجة، ثم المخرجات، ثم الأثر على المستخدم. استبدل النصوص بين الأقواس بما يناسب مشروعك. كل مرحلة مربع نص واحد قابل للتحرير، ويمكن تكراره أو حذفه. حافظ على تساوي المسافات عند تعديل عدد المراحل.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/>
              <a:t>الهوية: ملف ATIC-Template-01 والنسخة المحدثة لعرض اللجنة الإشرافية المرفقان.</a:t>
            </a:r>
            <a:endParaRPr/>
          </a:p>
        </p:txBody>
      </p:sp>
      <p:sp>
        <p:nvSpPr>
          <p:cNvPr id="815" name="Google Shape;815;p24:notes">
            <a:extLst>
              <a:ext uri="{FF2B5EF4-FFF2-40B4-BE49-F238E27FC236}">
                <a16:creationId xmlns:a16="http://schemas.microsoft.com/office/drawing/2014/main" id="{F6FC0D47-3355-6135-CF4E-071880BE13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000153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5">
          <a:extLst>
            <a:ext uri="{FF2B5EF4-FFF2-40B4-BE49-F238E27FC236}">
              <a16:creationId xmlns:a16="http://schemas.microsoft.com/office/drawing/2014/main" id="{36FC1A3E-5BDF-E8B8-FC18-BAE0524E1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8:notes">
            <a:extLst>
              <a:ext uri="{FF2B5EF4-FFF2-40B4-BE49-F238E27FC236}">
                <a16:creationId xmlns:a16="http://schemas.microsoft.com/office/drawing/2014/main" id="{0C20611B-A772-192C-8BDB-CA485C6361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7" name="Google Shape;647;p18:notes">
            <a:extLst>
              <a:ext uri="{FF2B5EF4-FFF2-40B4-BE49-F238E27FC236}">
                <a16:creationId xmlns:a16="http://schemas.microsoft.com/office/drawing/2014/main" id="{009FB8F6-8047-E984-73DD-25B747E65A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املأ المراحل من اليمين إلى اليسار. لكل مرحلة اسم وفترة ومخرج واضح. هذا نموذج لخطة مشروع الفريق، وليس جدولًا رسميًا لمواعيد التحدي.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648" name="Google Shape;648;p18:notes">
            <a:extLst>
              <a:ext uri="{FF2B5EF4-FFF2-40B4-BE49-F238E27FC236}">
                <a16:creationId xmlns:a16="http://schemas.microsoft.com/office/drawing/2014/main" id="{1E22C252-673D-AEA7-A356-2A741E95D8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177662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E7A2A65B-CDB2-DFC8-5959-35D7A293E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>
            <a:extLst>
              <a:ext uri="{FF2B5EF4-FFF2-40B4-BE49-F238E27FC236}">
                <a16:creationId xmlns:a16="http://schemas.microsoft.com/office/drawing/2014/main" id="{8E2CF3D3-C720-27D5-B8B8-8E6FB935DC0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Google Shape;495;p9:notes">
            <a:extLst>
              <a:ext uri="{FF2B5EF4-FFF2-40B4-BE49-F238E27FC236}">
                <a16:creationId xmlns:a16="http://schemas.microsoft.com/office/drawing/2014/main" id="{18A173C6-30C5-0ECE-8402-70CD669A6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عرّف بأقسام العرض في كلمات قليلة. عدّل العدد بحسب أقسامك، واحذف العناصر التي لا تحتاجها.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496" name="Google Shape;496;p9:notes">
            <a:extLst>
              <a:ext uri="{FF2B5EF4-FFF2-40B4-BE49-F238E27FC236}">
                <a16:creationId xmlns:a16="http://schemas.microsoft.com/office/drawing/2014/main" id="{23C4D51F-7500-2C19-282C-722665DBF8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545580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E08E9D0-69F7-49D0-B6B3-2D756145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>
            <a:extLst>
              <a:ext uri="{FF2B5EF4-FFF2-40B4-BE49-F238E27FC236}">
                <a16:creationId xmlns:a16="http://schemas.microsoft.com/office/drawing/2014/main" id="{CE05E357-808E-EE99-BAD5-13A70B272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Google Shape;495;p9:notes">
            <a:extLst>
              <a:ext uri="{FF2B5EF4-FFF2-40B4-BE49-F238E27FC236}">
                <a16:creationId xmlns:a16="http://schemas.microsoft.com/office/drawing/2014/main" id="{3851BCE4-0279-27A4-7BAD-AE48197489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عرّف بأقسام العرض في كلمات قليلة. عدّل العدد بحسب أقسامك، واحذف العناصر التي لا تحتاجها.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496" name="Google Shape;496;p9:notes">
            <a:extLst>
              <a:ext uri="{FF2B5EF4-FFF2-40B4-BE49-F238E27FC236}">
                <a16:creationId xmlns:a16="http://schemas.microsoft.com/office/drawing/2014/main" id="{9DFD0EFF-EDD7-C17B-9706-2833432C376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501870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1C186DB-8142-263E-3ED7-B91D1466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9:notes">
            <a:extLst>
              <a:ext uri="{FF2B5EF4-FFF2-40B4-BE49-F238E27FC236}">
                <a16:creationId xmlns:a16="http://schemas.microsoft.com/office/drawing/2014/main" id="{5EAE2E3B-A70B-B083-BD9B-B7423DF53A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495" name="Google Shape;495;p9:notes">
            <a:extLst>
              <a:ext uri="{FF2B5EF4-FFF2-40B4-BE49-F238E27FC236}">
                <a16:creationId xmlns:a16="http://schemas.microsoft.com/office/drawing/2014/main" id="{B493DE18-77F4-914B-04F8-9362433257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عرّف بأقسام العرض في كلمات قليلة. عدّل العدد بحسب أقسامك، واحذف العناصر التي لا تحتاجها.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496" name="Google Shape;496;p9:notes">
            <a:extLst>
              <a:ext uri="{FF2B5EF4-FFF2-40B4-BE49-F238E27FC236}">
                <a16:creationId xmlns:a16="http://schemas.microsoft.com/office/drawing/2014/main" id="{F352D0F6-E8C9-03D3-3421-218D3DEF043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7730367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83" name="Google Shape;68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أضف صورة كل عضو واسمه ودوره الفعلي في المشروع. الصور اختيارية. احذف إطار الصورة إن لم تستخدمه، وعدّل عدد الأعضاء بحسب الفريق.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684" name="Google Shape;68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11" name="Google Shape;911;p3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احتفظ بشعاري التحول التقني </a:t>
            </a:r>
            <a:r>
              <a:rPr lang="ar-SA" sz="1200" dirty="0" err="1"/>
              <a:t>وسدايا</a:t>
            </a:r>
            <a:r>
              <a:rPr lang="ar-SA" sz="1200" dirty="0"/>
              <a:t> باللون الأبيض على الخلفية الداكنة. شعار </a:t>
            </a:r>
            <a:r>
              <a:rPr lang="ar-SA" sz="1200" dirty="0" err="1"/>
              <a:t>سدايا</a:t>
            </a:r>
            <a:r>
              <a:rPr lang="ar-SA" sz="1200" dirty="0"/>
              <a:t> أصلي مقتطع بإطار الصورة من مجموعة الشعارات داخل القالب المرفق. استبدل اسم المشروع والرابط، أو احذف سطر الرابط إذا لم تستخدمه.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200" dirty="0"/>
              <a:t>الهوية: ملف ATIC-Template-01 والنسخة المحدثة لعرض اللجنة الإشرافية المرفقان.</a:t>
            </a:r>
            <a:endParaRPr dirty="0"/>
          </a:p>
        </p:txBody>
      </p:sp>
      <p:sp>
        <p:nvSpPr>
          <p:cNvPr id="912" name="Google Shape;912;p3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غلاف المشروع">
  <p:cSld name="غلاف المشروع">
    <p:bg>
      <p:bgPr>
        <a:solidFill>
          <a:srgbClr val="12183F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34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876872"/>
            <a:ext cx="6572250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3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34"/>
          <p:cNvPicPr preferRelativeResize="0"/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8258" y="3190875"/>
            <a:ext cx="6701734" cy="619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4"/>
          <p:cNvSpPr txBox="1">
            <a:spLocks noGrp="1"/>
          </p:cNvSpPr>
          <p:nvPr>
            <p:ph type="title"/>
          </p:nvPr>
        </p:nvSpPr>
        <p:spPr>
          <a:xfrm>
            <a:off x="8096250" y="3524250"/>
            <a:ext cx="904875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body" idx="1"/>
          </p:nvPr>
        </p:nvSpPr>
        <p:spPr>
          <a:xfrm>
            <a:off x="8096250" y="5334000"/>
            <a:ext cx="9048750" cy="1619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body" idx="2"/>
          </p:nvPr>
        </p:nvSpPr>
        <p:spPr>
          <a:xfrm>
            <a:off x="8953500" y="7762875"/>
            <a:ext cx="81915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" name="Google Shape;19;p34"/>
          <p:cNvSpPr txBox="1">
            <a:spLocks noGrp="1"/>
          </p:cNvSpPr>
          <p:nvPr>
            <p:ph type="body" idx="3"/>
          </p:nvPr>
        </p:nvSpPr>
        <p:spPr>
          <a:xfrm>
            <a:off x="1066800" y="9391650"/>
            <a:ext cx="542925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حتويات العرض">
  <p:cSld name="محتويات العرض">
    <p:bg>
      <p:bgPr>
        <a:solidFill>
          <a:srgbClr val="12183F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5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5" name="Google Shape;25;p3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6" name="Google Shape;26;p3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5"/>
          <p:cNvSpPr txBox="1">
            <a:spLocks noGrp="1"/>
          </p:cNvSpPr>
          <p:nvPr>
            <p:ph type="body" idx="2"/>
          </p:nvPr>
        </p:nvSpPr>
        <p:spPr>
          <a:xfrm>
            <a:off x="12382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body" idx="3"/>
          </p:nvPr>
        </p:nvSpPr>
        <p:spPr>
          <a:xfrm>
            <a:off x="12382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body" idx="4"/>
          </p:nvPr>
        </p:nvSpPr>
        <p:spPr>
          <a:xfrm>
            <a:off x="12382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0" name="Google Shape;30;p35"/>
          <p:cNvSpPr txBox="1">
            <a:spLocks noGrp="1"/>
          </p:cNvSpPr>
          <p:nvPr>
            <p:ph type="body" idx="5"/>
          </p:nvPr>
        </p:nvSpPr>
        <p:spPr>
          <a:xfrm>
            <a:off x="7048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" name="Google Shape;31;p35"/>
          <p:cNvSpPr txBox="1">
            <a:spLocks noGrp="1"/>
          </p:cNvSpPr>
          <p:nvPr>
            <p:ph type="body" idx="6"/>
          </p:nvPr>
        </p:nvSpPr>
        <p:spPr>
          <a:xfrm>
            <a:off x="7048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2" name="Google Shape;32;p35"/>
          <p:cNvSpPr txBox="1">
            <a:spLocks noGrp="1"/>
          </p:cNvSpPr>
          <p:nvPr>
            <p:ph type="body" idx="7"/>
          </p:nvPr>
        </p:nvSpPr>
        <p:spPr>
          <a:xfrm>
            <a:off x="7048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3" name="Google Shape;33;p35"/>
          <p:cNvSpPr txBox="1">
            <a:spLocks noGrp="1"/>
          </p:cNvSpPr>
          <p:nvPr>
            <p:ph type="body" idx="8"/>
          </p:nvPr>
        </p:nvSpPr>
        <p:spPr>
          <a:xfrm>
            <a:off x="1714500" y="3857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4" name="Google Shape;34;p35"/>
          <p:cNvSpPr txBox="1">
            <a:spLocks noGrp="1"/>
          </p:cNvSpPr>
          <p:nvPr>
            <p:ph type="body" idx="9"/>
          </p:nvPr>
        </p:nvSpPr>
        <p:spPr>
          <a:xfrm>
            <a:off x="1714500" y="4724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5" name="Google Shape;35;p35"/>
          <p:cNvSpPr txBox="1">
            <a:spLocks noGrp="1"/>
          </p:cNvSpPr>
          <p:nvPr>
            <p:ph type="body" idx="13"/>
          </p:nvPr>
        </p:nvSpPr>
        <p:spPr>
          <a:xfrm>
            <a:off x="1714500" y="5419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6" name="Google Shape;36;p35"/>
          <p:cNvSpPr txBox="1">
            <a:spLocks noGrp="1"/>
          </p:cNvSpPr>
          <p:nvPr>
            <p:ph type="body" idx="14"/>
          </p:nvPr>
        </p:nvSpPr>
        <p:spPr>
          <a:xfrm>
            <a:off x="12382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7" name="Google Shape;37;p35"/>
          <p:cNvSpPr txBox="1">
            <a:spLocks noGrp="1"/>
          </p:cNvSpPr>
          <p:nvPr>
            <p:ph type="body" idx="15"/>
          </p:nvPr>
        </p:nvSpPr>
        <p:spPr>
          <a:xfrm>
            <a:off x="12382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8" name="Google Shape;38;p35"/>
          <p:cNvSpPr txBox="1">
            <a:spLocks noGrp="1"/>
          </p:cNvSpPr>
          <p:nvPr>
            <p:ph type="body" idx="16"/>
          </p:nvPr>
        </p:nvSpPr>
        <p:spPr>
          <a:xfrm>
            <a:off x="12382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9" name="Google Shape;39;p35"/>
          <p:cNvSpPr txBox="1">
            <a:spLocks noGrp="1"/>
          </p:cNvSpPr>
          <p:nvPr>
            <p:ph type="body" idx="17"/>
          </p:nvPr>
        </p:nvSpPr>
        <p:spPr>
          <a:xfrm>
            <a:off x="7048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0" name="Google Shape;40;p35"/>
          <p:cNvSpPr txBox="1">
            <a:spLocks noGrp="1"/>
          </p:cNvSpPr>
          <p:nvPr>
            <p:ph type="body" idx="18"/>
          </p:nvPr>
        </p:nvSpPr>
        <p:spPr>
          <a:xfrm>
            <a:off x="7048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1" name="Google Shape;41;p35"/>
          <p:cNvSpPr txBox="1">
            <a:spLocks noGrp="1"/>
          </p:cNvSpPr>
          <p:nvPr>
            <p:ph type="body" idx="19"/>
          </p:nvPr>
        </p:nvSpPr>
        <p:spPr>
          <a:xfrm>
            <a:off x="7048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2" name="Google Shape;42;p35"/>
          <p:cNvSpPr txBox="1">
            <a:spLocks noGrp="1"/>
          </p:cNvSpPr>
          <p:nvPr>
            <p:ph type="body" idx="20"/>
          </p:nvPr>
        </p:nvSpPr>
        <p:spPr>
          <a:xfrm>
            <a:off x="1714500" y="6524625"/>
            <a:ext cx="447675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3" name="Google Shape;43;p35"/>
          <p:cNvSpPr txBox="1">
            <a:spLocks noGrp="1"/>
          </p:cNvSpPr>
          <p:nvPr>
            <p:ph type="body" idx="21"/>
          </p:nvPr>
        </p:nvSpPr>
        <p:spPr>
          <a:xfrm>
            <a:off x="1714500" y="7391400"/>
            <a:ext cx="44767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4" name="Google Shape;44;p35"/>
          <p:cNvSpPr txBox="1">
            <a:spLocks noGrp="1"/>
          </p:cNvSpPr>
          <p:nvPr>
            <p:ph type="body" idx="22"/>
          </p:nvPr>
        </p:nvSpPr>
        <p:spPr>
          <a:xfrm>
            <a:off x="1714500" y="8086725"/>
            <a:ext cx="4476750" cy="781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صل قسم">
  <p:cSld name="فاصل قسم">
    <p:bg>
      <p:bgPr>
        <a:solidFill>
          <a:srgbClr val="12183F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" name="Google Shape;47;p36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87391"/>
            <a:ext cx="4000500" cy="1025519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36"/>
          <p:cNvSpPr txBox="1">
            <a:spLocks noGrp="1"/>
          </p:cNvSpPr>
          <p:nvPr>
            <p:ph type="body" idx="1"/>
          </p:nvPr>
        </p:nvSpPr>
        <p:spPr>
          <a:xfrm>
            <a:off x="13430250" y="3143250"/>
            <a:ext cx="361950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49" name="Google Shape;49;p36"/>
          <p:cNvSpPr txBox="1">
            <a:spLocks noGrp="1"/>
          </p:cNvSpPr>
          <p:nvPr>
            <p:ph type="title"/>
          </p:nvPr>
        </p:nvSpPr>
        <p:spPr>
          <a:xfrm>
            <a:off x="4953000" y="4810125"/>
            <a:ext cx="12096750" cy="123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0" name="Google Shape;50;p36"/>
          <p:cNvSpPr txBox="1">
            <a:spLocks noGrp="1"/>
          </p:cNvSpPr>
          <p:nvPr>
            <p:ph type="body" idx="2"/>
          </p:nvPr>
        </p:nvSpPr>
        <p:spPr>
          <a:xfrm>
            <a:off x="6667500" y="6572250"/>
            <a:ext cx="103822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ربع نقاط">
  <p:cSld name="أربع نقاط">
    <p:bg>
      <p:bgPr>
        <a:solidFill>
          <a:srgbClr val="12183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3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" name="Google Shape;53;p37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37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5" name="Google Shape;55;p37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6" name="Google Shape;56;p37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57" name="Google Shape;57;p3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58" name="Google Shape;58;p3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37"/>
          <p:cNvSpPr txBox="1">
            <a:spLocks noGrp="1"/>
          </p:cNvSpPr>
          <p:nvPr>
            <p:ph type="body" idx="3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0" name="Google Shape;60;p37"/>
          <p:cNvSpPr txBox="1">
            <a:spLocks noGrp="1"/>
          </p:cNvSpPr>
          <p:nvPr>
            <p:ph type="body" idx="4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1" name="Google Shape;61;p37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2" name="Google Shape;62;p37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3" name="Google Shape;63;p37"/>
          <p:cNvSpPr txBox="1">
            <a:spLocks noGrp="1"/>
          </p:cNvSpPr>
          <p:nvPr>
            <p:ph type="body" idx="7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4" name="Google Shape;64;p37"/>
          <p:cNvSpPr txBox="1">
            <a:spLocks noGrp="1"/>
          </p:cNvSpPr>
          <p:nvPr>
            <p:ph type="body" idx="8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5" name="Google Shape;65;p37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66" name="Google Shape;66;p37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رئيسي">
  <p:cSld name="نص رئيسي">
    <p:bg>
      <p:bgPr>
        <a:solidFill>
          <a:srgbClr val="12183F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8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8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1" name="Google Shape;71;p38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2" name="Google Shape;72;p38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73" name="Google Shape;73;p3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8"/>
          <p:cNvSpPr txBox="1">
            <a:spLocks noGrp="1"/>
          </p:cNvSpPr>
          <p:nvPr>
            <p:ph type="body" idx="2"/>
          </p:nvPr>
        </p:nvSpPr>
        <p:spPr>
          <a:xfrm>
            <a:off x="6191250" y="4000500"/>
            <a:ext cx="1095375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3"/>
          </p:nvPr>
        </p:nvSpPr>
        <p:spPr>
          <a:xfrm>
            <a:off x="6191250" y="7239000"/>
            <a:ext cx="1095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body" idx="4"/>
          </p:nvPr>
        </p:nvSpPr>
        <p:spPr>
          <a:xfrm>
            <a:off x="6191250" y="8001000"/>
            <a:ext cx="1095375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وصورة عريضة">
  <p:cSld name="نص وصورة عريضة">
    <p:bg>
      <p:bgPr>
        <a:solidFill>
          <a:srgbClr val="12183F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39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39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1" name="Google Shape;81;p39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2" name="Google Shape;82;p3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83" name="Google Shape;83;p3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9"/>
          <p:cNvSpPr>
            <a:spLocks noGrp="1"/>
          </p:cNvSpPr>
          <p:nvPr>
            <p:ph type="pic" idx="2"/>
          </p:nvPr>
        </p:nvSpPr>
        <p:spPr>
          <a:xfrm>
            <a:off x="1428750" y="4048125"/>
            <a:ext cx="8382000" cy="4714875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5" name="Google Shape;85;p39"/>
          <p:cNvSpPr txBox="1">
            <a:spLocks noGrp="1"/>
          </p:cNvSpPr>
          <p:nvPr>
            <p:ph type="body" idx="3"/>
          </p:nvPr>
        </p:nvSpPr>
        <p:spPr>
          <a:xfrm>
            <a:off x="10763250" y="409575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6" name="Google Shape;86;p39"/>
          <p:cNvSpPr txBox="1">
            <a:spLocks noGrp="1"/>
          </p:cNvSpPr>
          <p:nvPr>
            <p:ph type="body" idx="4"/>
          </p:nvPr>
        </p:nvSpPr>
        <p:spPr>
          <a:xfrm>
            <a:off x="10763250" y="480060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7" name="Google Shape;87;p39"/>
          <p:cNvSpPr txBox="1">
            <a:spLocks noGrp="1"/>
          </p:cNvSpPr>
          <p:nvPr>
            <p:ph type="body" idx="5"/>
          </p:nvPr>
        </p:nvSpPr>
        <p:spPr>
          <a:xfrm>
            <a:off x="10763250" y="6667500"/>
            <a:ext cx="6381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88" name="Google Shape;88;p39"/>
          <p:cNvSpPr txBox="1">
            <a:spLocks noGrp="1"/>
          </p:cNvSpPr>
          <p:nvPr>
            <p:ph type="body" idx="6"/>
          </p:nvPr>
        </p:nvSpPr>
        <p:spPr>
          <a:xfrm>
            <a:off x="10763250" y="7372350"/>
            <a:ext cx="6381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نص وصورة مربعة">
  <p:cSld name="نص وصورة مربعة">
    <p:bg>
      <p:bgPr>
        <a:solidFill>
          <a:srgbClr val="12183F"/>
        </a:solid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40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40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3" name="Google Shape;93;p40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4" name="Google Shape;94;p4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95" name="Google Shape;95;p4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0"/>
          <p:cNvSpPr>
            <a:spLocks noGrp="1"/>
          </p:cNvSpPr>
          <p:nvPr>
            <p:ph type="pic" idx="2"/>
          </p:nvPr>
        </p:nvSpPr>
        <p:spPr>
          <a:xfrm>
            <a:off x="2190750" y="3476625"/>
            <a:ext cx="5715000" cy="571500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7" name="Google Shape;97;p40"/>
          <p:cNvSpPr txBox="1">
            <a:spLocks noGrp="1"/>
          </p:cNvSpPr>
          <p:nvPr>
            <p:ph type="body" idx="3"/>
          </p:nvPr>
        </p:nvSpPr>
        <p:spPr>
          <a:xfrm>
            <a:off x="10001250" y="3905250"/>
            <a:ext cx="7143750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8" name="Google Shape;98;p40"/>
          <p:cNvSpPr txBox="1">
            <a:spLocks noGrp="1"/>
          </p:cNvSpPr>
          <p:nvPr>
            <p:ph type="body" idx="4"/>
          </p:nvPr>
        </p:nvSpPr>
        <p:spPr>
          <a:xfrm>
            <a:off x="10001250" y="5191125"/>
            <a:ext cx="7143750" cy="2428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99" name="Google Shape;99;p40"/>
          <p:cNvSpPr txBox="1">
            <a:spLocks noGrp="1"/>
          </p:cNvSpPr>
          <p:nvPr>
            <p:ph type="body" idx="5"/>
          </p:nvPr>
        </p:nvSpPr>
        <p:spPr>
          <a:xfrm>
            <a:off x="10001250" y="8048625"/>
            <a:ext cx="71437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ؤشرات">
  <p:cSld name="مؤشرات">
    <p:bg>
      <p:bgPr>
        <a:solidFill>
          <a:srgbClr val="12183F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4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41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41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4" name="Google Shape;104;p41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5" name="Google Shape;105;p41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6" name="Google Shape;106;p4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107" name="Google Shape;107;p4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1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4"/>
          </p:nvPr>
        </p:nvSpPr>
        <p:spPr>
          <a:xfrm>
            <a:off x="13716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5"/>
          </p:nvPr>
        </p:nvSpPr>
        <p:spPr>
          <a:xfrm>
            <a:off x="13716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6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2" name="Google Shape;112;p41"/>
          <p:cNvSpPr txBox="1">
            <a:spLocks noGrp="1"/>
          </p:cNvSpPr>
          <p:nvPr>
            <p:ph type="body" idx="7"/>
          </p:nvPr>
        </p:nvSpPr>
        <p:spPr>
          <a:xfrm>
            <a:off x="9715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3" name="Google Shape;113;p41"/>
          <p:cNvSpPr txBox="1">
            <a:spLocks noGrp="1"/>
          </p:cNvSpPr>
          <p:nvPr>
            <p:ph type="body" idx="8"/>
          </p:nvPr>
        </p:nvSpPr>
        <p:spPr>
          <a:xfrm>
            <a:off x="9715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body" idx="9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5" name="Google Shape;115;p41"/>
          <p:cNvSpPr txBox="1">
            <a:spLocks noGrp="1"/>
          </p:cNvSpPr>
          <p:nvPr>
            <p:ph type="body" idx="13"/>
          </p:nvPr>
        </p:nvSpPr>
        <p:spPr>
          <a:xfrm>
            <a:off x="57150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6" name="Google Shape;116;p41"/>
          <p:cNvSpPr txBox="1">
            <a:spLocks noGrp="1"/>
          </p:cNvSpPr>
          <p:nvPr>
            <p:ph type="body" idx="14"/>
          </p:nvPr>
        </p:nvSpPr>
        <p:spPr>
          <a:xfrm>
            <a:off x="57150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7" name="Google Shape;117;p41"/>
          <p:cNvSpPr txBox="1">
            <a:spLocks noGrp="1"/>
          </p:cNvSpPr>
          <p:nvPr>
            <p:ph type="body" idx="15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8" name="Google Shape;118;p41"/>
          <p:cNvSpPr txBox="1">
            <a:spLocks noGrp="1"/>
          </p:cNvSpPr>
          <p:nvPr>
            <p:ph type="body" idx="16"/>
          </p:nvPr>
        </p:nvSpPr>
        <p:spPr>
          <a:xfrm>
            <a:off x="1714500" y="6048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19" name="Google Shape;119;p41"/>
          <p:cNvSpPr txBox="1">
            <a:spLocks noGrp="1"/>
          </p:cNvSpPr>
          <p:nvPr>
            <p:ph type="body" idx="17"/>
          </p:nvPr>
        </p:nvSpPr>
        <p:spPr>
          <a:xfrm>
            <a:off x="1714500" y="7000875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20" name="Google Shape;120;p41"/>
          <p:cNvSpPr txBox="1">
            <a:spLocks noGrp="1"/>
          </p:cNvSpPr>
          <p:nvPr>
            <p:ph type="body" idx="18"/>
          </p:nvPr>
        </p:nvSpPr>
        <p:spPr>
          <a:xfrm>
            <a:off x="1714500" y="8763000"/>
            <a:ext cx="154305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جدول داكن">
  <p:cSld name="جدول داكن">
    <p:bg>
      <p:bgPr>
        <a:solidFill>
          <a:srgbClr val="12183F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4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43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3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5" name="Google Shape;135;p4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136" name="Google Shape;136;p4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3"/>
          <p:cNvSpPr txBox="1">
            <a:spLocks noGrp="1"/>
          </p:cNvSpPr>
          <p:nvPr>
            <p:ph type="body" idx="3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38" name="Google Shape;138;p43"/>
          <p:cNvSpPr>
            <a:spLocks noGrp="1"/>
          </p:cNvSpPr>
          <p:nvPr>
            <p:ph type="tbl" idx="4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خط زمني">
  <p:cSld name="خط زمني">
    <p:bg>
      <p:bgPr>
        <a:solidFill>
          <a:srgbClr val="12183F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4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44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4"/>
          <p:cNvSpPr/>
          <p:nvPr/>
        </p:nvSpPr>
        <p:spPr>
          <a:xfrm>
            <a:off x="142875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44"/>
          <p:cNvSpPr/>
          <p:nvPr/>
        </p:nvSpPr>
        <p:spPr>
          <a:xfrm>
            <a:off x="1114425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44"/>
          <p:cNvSpPr/>
          <p:nvPr/>
        </p:nvSpPr>
        <p:spPr>
          <a:xfrm>
            <a:off x="80010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4"/>
          <p:cNvSpPr/>
          <p:nvPr/>
        </p:nvSpPr>
        <p:spPr>
          <a:xfrm>
            <a:off x="485775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44"/>
          <p:cNvSpPr/>
          <p:nvPr/>
        </p:nvSpPr>
        <p:spPr>
          <a:xfrm>
            <a:off x="1714500" y="4667250"/>
            <a:ext cx="2857500" cy="47625"/>
          </a:xfrm>
          <a:prstGeom prst="rect">
            <a:avLst/>
          </a:prstGeom>
          <a:solidFill>
            <a:srgbClr val="6150EA"/>
          </a:solidFill>
          <a:ln w="11425" cap="flat" cmpd="sng">
            <a:solidFill>
              <a:srgbClr val="6150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48" name="Google Shape;148;p44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49" name="Google Shape;149;p44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0" name="Google Shape;150;p4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151" name="Google Shape;151;p4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3"/>
          </p:nvPr>
        </p:nvSpPr>
        <p:spPr>
          <a:xfrm>
            <a:off x="14287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4"/>
          </p:nvPr>
        </p:nvSpPr>
        <p:spPr>
          <a:xfrm>
            <a:off x="14287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5"/>
          </p:nvPr>
        </p:nvSpPr>
        <p:spPr>
          <a:xfrm>
            <a:off x="14287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6"/>
          </p:nvPr>
        </p:nvSpPr>
        <p:spPr>
          <a:xfrm>
            <a:off x="14287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body" idx="7"/>
          </p:nvPr>
        </p:nvSpPr>
        <p:spPr>
          <a:xfrm>
            <a:off x="111442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7" name="Google Shape;157;p44"/>
          <p:cNvSpPr txBox="1">
            <a:spLocks noGrp="1"/>
          </p:cNvSpPr>
          <p:nvPr>
            <p:ph type="body" idx="8"/>
          </p:nvPr>
        </p:nvSpPr>
        <p:spPr>
          <a:xfrm>
            <a:off x="111442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8" name="Google Shape;158;p44"/>
          <p:cNvSpPr txBox="1">
            <a:spLocks noGrp="1"/>
          </p:cNvSpPr>
          <p:nvPr>
            <p:ph type="body" idx="9"/>
          </p:nvPr>
        </p:nvSpPr>
        <p:spPr>
          <a:xfrm>
            <a:off x="111442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59" name="Google Shape;159;p44"/>
          <p:cNvSpPr txBox="1">
            <a:spLocks noGrp="1"/>
          </p:cNvSpPr>
          <p:nvPr>
            <p:ph type="body" idx="13"/>
          </p:nvPr>
        </p:nvSpPr>
        <p:spPr>
          <a:xfrm>
            <a:off x="111442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0" name="Google Shape;160;p44"/>
          <p:cNvSpPr txBox="1">
            <a:spLocks noGrp="1"/>
          </p:cNvSpPr>
          <p:nvPr>
            <p:ph type="body" idx="14"/>
          </p:nvPr>
        </p:nvSpPr>
        <p:spPr>
          <a:xfrm>
            <a:off x="80010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1" name="Google Shape;161;p44"/>
          <p:cNvSpPr txBox="1">
            <a:spLocks noGrp="1"/>
          </p:cNvSpPr>
          <p:nvPr>
            <p:ph type="body" idx="15"/>
          </p:nvPr>
        </p:nvSpPr>
        <p:spPr>
          <a:xfrm>
            <a:off x="80010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2" name="Google Shape;162;p44"/>
          <p:cNvSpPr txBox="1">
            <a:spLocks noGrp="1"/>
          </p:cNvSpPr>
          <p:nvPr>
            <p:ph type="body" idx="16"/>
          </p:nvPr>
        </p:nvSpPr>
        <p:spPr>
          <a:xfrm>
            <a:off x="80010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3" name="Google Shape;163;p44"/>
          <p:cNvSpPr txBox="1">
            <a:spLocks noGrp="1"/>
          </p:cNvSpPr>
          <p:nvPr>
            <p:ph type="body" idx="17"/>
          </p:nvPr>
        </p:nvSpPr>
        <p:spPr>
          <a:xfrm>
            <a:off x="80010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4" name="Google Shape;164;p44"/>
          <p:cNvSpPr txBox="1">
            <a:spLocks noGrp="1"/>
          </p:cNvSpPr>
          <p:nvPr>
            <p:ph type="body" idx="18"/>
          </p:nvPr>
        </p:nvSpPr>
        <p:spPr>
          <a:xfrm>
            <a:off x="48577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5" name="Google Shape;165;p44"/>
          <p:cNvSpPr txBox="1">
            <a:spLocks noGrp="1"/>
          </p:cNvSpPr>
          <p:nvPr>
            <p:ph type="body" idx="19"/>
          </p:nvPr>
        </p:nvSpPr>
        <p:spPr>
          <a:xfrm>
            <a:off x="485775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6" name="Google Shape;166;p44"/>
          <p:cNvSpPr txBox="1">
            <a:spLocks noGrp="1"/>
          </p:cNvSpPr>
          <p:nvPr>
            <p:ph type="body" idx="20"/>
          </p:nvPr>
        </p:nvSpPr>
        <p:spPr>
          <a:xfrm>
            <a:off x="485775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7" name="Google Shape;167;p44"/>
          <p:cNvSpPr txBox="1">
            <a:spLocks noGrp="1"/>
          </p:cNvSpPr>
          <p:nvPr>
            <p:ph type="body" idx="21"/>
          </p:nvPr>
        </p:nvSpPr>
        <p:spPr>
          <a:xfrm>
            <a:off x="485775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8" name="Google Shape;168;p44"/>
          <p:cNvSpPr txBox="1">
            <a:spLocks noGrp="1"/>
          </p:cNvSpPr>
          <p:nvPr>
            <p:ph type="body" idx="22"/>
          </p:nvPr>
        </p:nvSpPr>
        <p:spPr>
          <a:xfrm>
            <a:off x="17145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69" name="Google Shape;169;p44"/>
          <p:cNvSpPr txBox="1">
            <a:spLocks noGrp="1"/>
          </p:cNvSpPr>
          <p:nvPr>
            <p:ph type="body" idx="23"/>
          </p:nvPr>
        </p:nvSpPr>
        <p:spPr>
          <a:xfrm>
            <a:off x="1714500" y="5238750"/>
            <a:ext cx="2857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0" name="Google Shape;170;p44"/>
          <p:cNvSpPr txBox="1">
            <a:spLocks noGrp="1"/>
          </p:cNvSpPr>
          <p:nvPr>
            <p:ph type="body" idx="24"/>
          </p:nvPr>
        </p:nvSpPr>
        <p:spPr>
          <a:xfrm>
            <a:off x="1714500" y="604837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1" name="Google Shape;171;p44"/>
          <p:cNvSpPr txBox="1">
            <a:spLocks noGrp="1"/>
          </p:cNvSpPr>
          <p:nvPr>
            <p:ph type="body" idx="25"/>
          </p:nvPr>
        </p:nvSpPr>
        <p:spPr>
          <a:xfrm>
            <a:off x="1714500" y="7000875"/>
            <a:ext cx="2857500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ريق العمل">
  <p:cSld name="فريق العمل">
    <p:bg>
      <p:bgPr>
        <a:solidFill>
          <a:srgbClr val="12183F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4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45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45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6" name="Google Shape;176;p45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7" name="Google Shape;177;p45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78" name="Google Shape;178;p4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179" name="Google Shape;179;p4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5"/>
          <p:cNvSpPr>
            <a:spLocks noGrp="1"/>
          </p:cNvSpPr>
          <p:nvPr>
            <p:ph type="pic" idx="3"/>
          </p:nvPr>
        </p:nvSpPr>
        <p:spPr>
          <a:xfrm>
            <a:off x="141922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1" name="Google Shape;181;p45"/>
          <p:cNvSpPr txBox="1">
            <a:spLocks noGrp="1"/>
          </p:cNvSpPr>
          <p:nvPr>
            <p:ph type="body" idx="4"/>
          </p:nvPr>
        </p:nvSpPr>
        <p:spPr>
          <a:xfrm>
            <a:off x="13716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2" name="Google Shape;182;p45"/>
          <p:cNvSpPr txBox="1">
            <a:spLocks noGrp="1"/>
          </p:cNvSpPr>
          <p:nvPr>
            <p:ph type="body" idx="5"/>
          </p:nvPr>
        </p:nvSpPr>
        <p:spPr>
          <a:xfrm>
            <a:off x="13716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3" name="Google Shape;183;p45"/>
          <p:cNvSpPr>
            <a:spLocks noGrp="1"/>
          </p:cNvSpPr>
          <p:nvPr>
            <p:ph type="pic" idx="6"/>
          </p:nvPr>
        </p:nvSpPr>
        <p:spPr>
          <a:xfrm>
            <a:off x="101917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4" name="Google Shape;184;p45"/>
          <p:cNvSpPr txBox="1">
            <a:spLocks noGrp="1"/>
          </p:cNvSpPr>
          <p:nvPr>
            <p:ph type="body" idx="7"/>
          </p:nvPr>
        </p:nvSpPr>
        <p:spPr>
          <a:xfrm>
            <a:off x="9715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5" name="Google Shape;185;p45"/>
          <p:cNvSpPr txBox="1">
            <a:spLocks noGrp="1"/>
          </p:cNvSpPr>
          <p:nvPr>
            <p:ph type="body" idx="8"/>
          </p:nvPr>
        </p:nvSpPr>
        <p:spPr>
          <a:xfrm>
            <a:off x="9715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6" name="Google Shape;186;p45"/>
          <p:cNvSpPr>
            <a:spLocks noGrp="1"/>
          </p:cNvSpPr>
          <p:nvPr>
            <p:ph type="pic" idx="9"/>
          </p:nvPr>
        </p:nvSpPr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87" name="Google Shape;187;p45"/>
          <p:cNvSpPr txBox="1">
            <a:spLocks noGrp="1"/>
          </p:cNvSpPr>
          <p:nvPr>
            <p:ph type="body" idx="13"/>
          </p:nvPr>
        </p:nvSpPr>
        <p:spPr>
          <a:xfrm>
            <a:off x="57150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8" name="Google Shape;188;p45"/>
          <p:cNvSpPr txBox="1">
            <a:spLocks noGrp="1"/>
          </p:cNvSpPr>
          <p:nvPr>
            <p:ph type="body" idx="14"/>
          </p:nvPr>
        </p:nvSpPr>
        <p:spPr>
          <a:xfrm>
            <a:off x="57150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89" name="Google Shape;189;p45"/>
          <p:cNvSpPr>
            <a:spLocks noGrp="1"/>
          </p:cNvSpPr>
          <p:nvPr>
            <p:ph type="pic" idx="15"/>
          </p:nvPr>
        </p:nvSpPr>
        <p:spPr>
          <a:xfrm>
            <a:off x="21907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0" name="Google Shape;190;p45"/>
          <p:cNvSpPr txBox="1">
            <a:spLocks noGrp="1"/>
          </p:cNvSpPr>
          <p:nvPr>
            <p:ph type="body" idx="16"/>
          </p:nvPr>
        </p:nvSpPr>
        <p:spPr>
          <a:xfrm>
            <a:off x="1714500" y="6953250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1" name="Google Shape;191;p45"/>
          <p:cNvSpPr txBox="1">
            <a:spLocks noGrp="1"/>
          </p:cNvSpPr>
          <p:nvPr>
            <p:ph type="body" idx="17"/>
          </p:nvPr>
        </p:nvSpPr>
        <p:spPr>
          <a:xfrm>
            <a:off x="1714500" y="781050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ربع نقاط فاتحة">
  <p:cSld name="أربع نقاط فاتحة">
    <p:bg>
      <p:bgPr>
        <a:solidFill>
          <a:srgbClr val="F2F4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4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46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6" name="Google Shape;196;p46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7" name="Google Shape;197;p46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198" name="Google Shape;198;p4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199" name="Google Shape;199;p4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46"/>
          <p:cNvSpPr txBox="1">
            <a:spLocks noGrp="1"/>
          </p:cNvSpPr>
          <p:nvPr>
            <p:ph type="body" idx="3"/>
          </p:nvPr>
        </p:nvSpPr>
        <p:spPr>
          <a:xfrm>
            <a:off x="9810750" y="3952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1" name="Google Shape;201;p46"/>
          <p:cNvSpPr txBox="1">
            <a:spLocks noGrp="1"/>
          </p:cNvSpPr>
          <p:nvPr>
            <p:ph type="body" idx="4"/>
          </p:nvPr>
        </p:nvSpPr>
        <p:spPr>
          <a:xfrm>
            <a:off x="9810750" y="4657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2" name="Google Shape;202;p46"/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3" name="Google Shape;203;p46"/>
          <p:cNvSpPr txBox="1">
            <a:spLocks noGrp="1"/>
          </p:cNvSpPr>
          <p:nvPr>
            <p:ph type="body" idx="6"/>
          </p:nvPr>
        </p:nvSpPr>
        <p:spPr>
          <a:xfrm>
            <a:off x="1714500" y="4657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4" name="Google Shape;204;p46"/>
          <p:cNvSpPr txBox="1">
            <a:spLocks noGrp="1"/>
          </p:cNvSpPr>
          <p:nvPr>
            <p:ph type="body" idx="7"/>
          </p:nvPr>
        </p:nvSpPr>
        <p:spPr>
          <a:xfrm>
            <a:off x="9810750" y="6619875"/>
            <a:ext cx="7334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5" name="Google Shape;205;p46"/>
          <p:cNvSpPr txBox="1">
            <a:spLocks noGrp="1"/>
          </p:cNvSpPr>
          <p:nvPr>
            <p:ph type="body" idx="8"/>
          </p:nvPr>
        </p:nvSpPr>
        <p:spPr>
          <a:xfrm>
            <a:off x="9810750" y="7324725"/>
            <a:ext cx="7334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6" name="Google Shape;206;p46"/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07" name="Google Shape;207;p46"/>
          <p:cNvSpPr txBox="1">
            <a:spLocks noGrp="1"/>
          </p:cNvSpPr>
          <p:nvPr>
            <p:ph type="body" idx="13"/>
          </p:nvPr>
        </p:nvSpPr>
        <p:spPr>
          <a:xfrm>
            <a:off x="1714500" y="7324725"/>
            <a:ext cx="69532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جدول فاتح">
  <p:cSld name="جدول فاتح">
    <p:bg>
      <p:bgPr>
        <a:solidFill>
          <a:srgbClr val="F2F4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4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37187" y="685800"/>
            <a:ext cx="2888226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47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2" name="Google Shape;212;p47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3" name="Google Shape;213;p47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4" name="Google Shape;214;p47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15" name="Google Shape;215;p47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7"/>
          <p:cNvSpPr txBox="1">
            <a:spLocks noGrp="1"/>
          </p:cNvSpPr>
          <p:nvPr>
            <p:ph type="body" idx="3"/>
          </p:nvPr>
        </p:nvSpPr>
        <p:spPr>
          <a:xfrm>
            <a:off x="1714500" y="881062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17" name="Google Shape;217;p47"/>
          <p:cNvSpPr>
            <a:spLocks noGrp="1"/>
          </p:cNvSpPr>
          <p:nvPr>
            <p:ph type="tbl" idx="4"/>
          </p:nvPr>
        </p:nvSpPr>
        <p:spPr>
          <a:xfrm>
            <a:off x="1714500" y="3905250"/>
            <a:ext cx="15430500" cy="447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توزيع نسبي">
  <p:cSld name="توزيع نسبي">
    <p:bg>
      <p:bgPr>
        <a:solidFill>
          <a:srgbClr val="12183F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4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49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9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2" name="Google Shape;232;p49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3" name="Google Shape;233;p49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4" name="Google Shape;234;p49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35" name="Google Shape;235;p4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9"/>
          <p:cNvSpPr txBox="1">
            <a:spLocks noGrp="1"/>
          </p:cNvSpPr>
          <p:nvPr>
            <p:ph type="body" idx="3"/>
          </p:nvPr>
        </p:nvSpPr>
        <p:spPr>
          <a:xfrm>
            <a:off x="1714500" y="8905875"/>
            <a:ext cx="15430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37" name="Google Shape;237;p49"/>
          <p:cNvSpPr>
            <a:spLocks noGrp="1"/>
          </p:cNvSpPr>
          <p:nvPr>
            <p:ph type="chart" idx="4"/>
          </p:nvPr>
        </p:nvSpPr>
        <p:spPr>
          <a:xfrm>
            <a:off x="2095500" y="3619500"/>
            <a:ext cx="14097000" cy="538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0" tIns="45700" rIns="254000" bIns="45700" anchor="ctr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آلية العمل">
  <p:cSld name="آلية العمل">
    <p:bg>
      <p:bgPr>
        <a:solidFill>
          <a:srgbClr val="12183F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5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50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50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2" name="Google Shape;242;p50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3" name="Google Shape;243;p50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4" name="Google Shape;244;p50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45" name="Google Shape;245;p50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0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7" name="Google Shape;247;p50"/>
          <p:cNvSpPr txBox="1">
            <a:spLocks noGrp="1"/>
          </p:cNvSpPr>
          <p:nvPr>
            <p:ph type="body" idx="4"/>
          </p:nvPr>
        </p:nvSpPr>
        <p:spPr>
          <a:xfrm>
            <a:off x="97155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8" name="Google Shape;248;p50"/>
          <p:cNvSpPr txBox="1">
            <a:spLocks noGrp="1"/>
          </p:cNvSpPr>
          <p:nvPr>
            <p:ph type="body" idx="5"/>
          </p:nvPr>
        </p:nvSpPr>
        <p:spPr>
          <a:xfrm>
            <a:off x="57150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49" name="Google Shape;249;p50"/>
          <p:cNvSpPr txBox="1">
            <a:spLocks noGrp="1"/>
          </p:cNvSpPr>
          <p:nvPr>
            <p:ph type="body" idx="6"/>
          </p:nvPr>
        </p:nvSpPr>
        <p:spPr>
          <a:xfrm>
            <a:off x="1714500" y="4333875"/>
            <a:ext cx="3429000" cy="3714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323D6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266700" tIns="238125" rIns="266700" bIns="238125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صورة كبيرة">
  <p:cSld name="صورة كبيرة">
    <p:bg>
      <p:bgPr>
        <a:solidFill>
          <a:srgbClr val="12183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5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1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53" name="Google Shape;253;p51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51"/>
          <p:cNvSpPr>
            <a:spLocks noGrp="1"/>
          </p:cNvSpPr>
          <p:nvPr>
            <p:ph type="pic" idx="2"/>
          </p:nvPr>
        </p:nvSpPr>
        <p:spPr>
          <a:xfrm>
            <a:off x="1047750" y="666750"/>
            <a:ext cx="16192500" cy="6953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55" name="Google Shape;255;p51"/>
          <p:cNvSpPr txBox="1">
            <a:spLocks noGrp="1"/>
          </p:cNvSpPr>
          <p:nvPr>
            <p:ph type="title"/>
          </p:nvPr>
        </p:nvSpPr>
        <p:spPr>
          <a:xfrm>
            <a:off x="2190750" y="7962900"/>
            <a:ext cx="147637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56" name="Google Shape;256;p51"/>
          <p:cNvSpPr txBox="1">
            <a:spLocks noGrp="1"/>
          </p:cNvSpPr>
          <p:nvPr>
            <p:ph type="body" idx="1"/>
          </p:nvPr>
        </p:nvSpPr>
        <p:spPr>
          <a:xfrm>
            <a:off x="2190750" y="8896350"/>
            <a:ext cx="147637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عرض الصور">
  <p:cSld name="معرض الصور">
    <p:bg>
      <p:bgPr>
        <a:solidFill>
          <a:srgbClr val="12183F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5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52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52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1" name="Google Shape;261;p52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2" name="Google Shape;262;p52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63" name="Google Shape;263;p52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52"/>
          <p:cNvSpPr>
            <a:spLocks noGrp="1"/>
          </p:cNvSpPr>
          <p:nvPr>
            <p:ph type="pic" idx="2"/>
          </p:nvPr>
        </p:nvSpPr>
        <p:spPr>
          <a:xfrm>
            <a:off x="12382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5" name="Google Shape;265;p52"/>
          <p:cNvSpPr txBox="1">
            <a:spLocks noGrp="1"/>
          </p:cNvSpPr>
          <p:nvPr>
            <p:ph type="body" idx="3"/>
          </p:nvPr>
        </p:nvSpPr>
        <p:spPr>
          <a:xfrm>
            <a:off x="12382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6" name="Google Shape;266;p52"/>
          <p:cNvSpPr>
            <a:spLocks noGrp="1"/>
          </p:cNvSpPr>
          <p:nvPr>
            <p:ph type="pic" idx="4"/>
          </p:nvPr>
        </p:nvSpPr>
        <p:spPr>
          <a:xfrm>
            <a:off x="7048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7" name="Google Shape;267;p52"/>
          <p:cNvSpPr txBox="1">
            <a:spLocks noGrp="1"/>
          </p:cNvSpPr>
          <p:nvPr>
            <p:ph type="body" idx="5"/>
          </p:nvPr>
        </p:nvSpPr>
        <p:spPr>
          <a:xfrm>
            <a:off x="7048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68" name="Google Shape;268;p52"/>
          <p:cNvSpPr>
            <a:spLocks noGrp="1"/>
          </p:cNvSpPr>
          <p:nvPr>
            <p:ph type="pic" idx="6"/>
          </p:nvPr>
        </p:nvSpPr>
        <p:spPr>
          <a:xfrm>
            <a:off x="1714500" y="3714750"/>
            <a:ext cx="4762500" cy="4286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69" name="Google Shape;269;p52"/>
          <p:cNvSpPr txBox="1">
            <a:spLocks noGrp="1"/>
          </p:cNvSpPr>
          <p:nvPr>
            <p:ph type="body" idx="7"/>
          </p:nvPr>
        </p:nvSpPr>
        <p:spPr>
          <a:xfrm>
            <a:off x="1714500" y="8334375"/>
            <a:ext cx="47625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أيقونات الهوية">
  <p:cSld name="أيقونات الهوية">
    <p:bg>
      <p:bgPr>
        <a:solidFill>
          <a:srgbClr val="12183F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5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53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3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4" name="Google Shape;274;p53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5" name="Google Shape;275;p53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6" name="Google Shape;276;p53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77" name="Google Shape;277;p5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3"/>
          <p:cNvSpPr txBox="1">
            <a:spLocks noGrp="1"/>
          </p:cNvSpPr>
          <p:nvPr>
            <p:ph type="body" idx="3"/>
          </p:nvPr>
        </p:nvSpPr>
        <p:spPr>
          <a:xfrm>
            <a:off x="13716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79" name="Google Shape;279;p53"/>
          <p:cNvSpPr txBox="1">
            <a:spLocks noGrp="1"/>
          </p:cNvSpPr>
          <p:nvPr>
            <p:ph type="body" idx="4"/>
          </p:nvPr>
        </p:nvSpPr>
        <p:spPr>
          <a:xfrm>
            <a:off x="13716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0" name="Google Shape;280;p53"/>
          <p:cNvSpPr txBox="1">
            <a:spLocks noGrp="1"/>
          </p:cNvSpPr>
          <p:nvPr>
            <p:ph type="body" idx="5"/>
          </p:nvPr>
        </p:nvSpPr>
        <p:spPr>
          <a:xfrm>
            <a:off x="9715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1" name="Google Shape;281;p53"/>
          <p:cNvSpPr txBox="1">
            <a:spLocks noGrp="1"/>
          </p:cNvSpPr>
          <p:nvPr>
            <p:ph type="body" idx="6"/>
          </p:nvPr>
        </p:nvSpPr>
        <p:spPr>
          <a:xfrm>
            <a:off x="9715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2" name="Google Shape;282;p53"/>
          <p:cNvSpPr txBox="1">
            <a:spLocks noGrp="1"/>
          </p:cNvSpPr>
          <p:nvPr>
            <p:ph type="body" idx="7"/>
          </p:nvPr>
        </p:nvSpPr>
        <p:spPr>
          <a:xfrm>
            <a:off x="57150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3" name="Google Shape;283;p53"/>
          <p:cNvSpPr txBox="1">
            <a:spLocks noGrp="1"/>
          </p:cNvSpPr>
          <p:nvPr>
            <p:ph type="body" idx="8"/>
          </p:nvPr>
        </p:nvSpPr>
        <p:spPr>
          <a:xfrm>
            <a:off x="57150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4" name="Google Shape;284;p53"/>
          <p:cNvSpPr txBox="1">
            <a:spLocks noGrp="1"/>
          </p:cNvSpPr>
          <p:nvPr>
            <p:ph type="body" idx="9"/>
          </p:nvPr>
        </p:nvSpPr>
        <p:spPr>
          <a:xfrm>
            <a:off x="1714500" y="6048375"/>
            <a:ext cx="352425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85" name="Google Shape;285;p53"/>
          <p:cNvSpPr txBox="1">
            <a:spLocks noGrp="1"/>
          </p:cNvSpPr>
          <p:nvPr>
            <p:ph type="body" idx="13"/>
          </p:nvPr>
        </p:nvSpPr>
        <p:spPr>
          <a:xfrm>
            <a:off x="1714500" y="7162800"/>
            <a:ext cx="3524250" cy="117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مقارنة خيارين">
  <p:cSld name="مقارنة خيارين">
    <p:bg>
      <p:bgPr>
        <a:solidFill>
          <a:srgbClr val="12183F"/>
        </a:solidFill>
        <a:effectLst/>
      </p:bgPr>
    </p:bg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54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54"/>
          <p:cNvSpPr txBox="1">
            <a:spLocks noGrp="1"/>
          </p:cNvSpPr>
          <p:nvPr>
            <p:ph type="body" idx="1"/>
          </p:nvPr>
        </p:nvSpPr>
        <p:spPr>
          <a:xfrm>
            <a:off x="106680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0" name="Google Shape;290;p54"/>
          <p:cNvSpPr txBox="1">
            <a:spLocks noGrp="1"/>
          </p:cNvSpPr>
          <p:nvPr>
            <p:ph type="title"/>
          </p:nvPr>
        </p:nvSpPr>
        <p:spPr>
          <a:xfrm>
            <a:off x="17145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1" name="Google Shape;291;p54"/>
          <p:cNvSpPr txBox="1">
            <a:spLocks noGrp="1"/>
          </p:cNvSpPr>
          <p:nvPr>
            <p:ph type="body" idx="2"/>
          </p:nvPr>
        </p:nvSpPr>
        <p:spPr>
          <a:xfrm>
            <a:off x="17145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2" name="Google Shape;292;p54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293" name="Google Shape;293;p5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4"/>
          <p:cNvSpPr txBox="1">
            <a:spLocks noGrp="1"/>
          </p:cNvSpPr>
          <p:nvPr>
            <p:ph type="body" idx="3"/>
          </p:nvPr>
        </p:nvSpPr>
        <p:spPr>
          <a:xfrm>
            <a:off x="1000125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5" name="Google Shape;295;p54"/>
          <p:cNvSpPr txBox="1">
            <a:spLocks noGrp="1"/>
          </p:cNvSpPr>
          <p:nvPr>
            <p:ph type="body" idx="4"/>
          </p:nvPr>
        </p:nvSpPr>
        <p:spPr>
          <a:xfrm>
            <a:off x="1000125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6" name="Google Shape;296;p54"/>
          <p:cNvSpPr txBox="1">
            <a:spLocks noGrp="1"/>
          </p:cNvSpPr>
          <p:nvPr>
            <p:ph type="body" idx="5"/>
          </p:nvPr>
        </p:nvSpPr>
        <p:spPr>
          <a:xfrm>
            <a:off x="1714500" y="3857625"/>
            <a:ext cx="71437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7" name="Google Shape;297;p54"/>
          <p:cNvSpPr txBox="1">
            <a:spLocks noGrp="1"/>
          </p:cNvSpPr>
          <p:nvPr>
            <p:ph type="body" idx="6"/>
          </p:nvPr>
        </p:nvSpPr>
        <p:spPr>
          <a:xfrm>
            <a:off x="1714500" y="4562475"/>
            <a:ext cx="714375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8" name="Google Shape;298;p54"/>
          <p:cNvSpPr txBox="1">
            <a:spLocks noGrp="1"/>
          </p:cNvSpPr>
          <p:nvPr>
            <p:ph type="body" idx="7"/>
          </p:nvPr>
        </p:nvSpPr>
        <p:spPr>
          <a:xfrm>
            <a:off x="1000125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299" name="Google Shape;299;p54"/>
          <p:cNvSpPr txBox="1">
            <a:spLocks noGrp="1"/>
          </p:cNvSpPr>
          <p:nvPr>
            <p:ph type="body" idx="8"/>
          </p:nvPr>
        </p:nvSpPr>
        <p:spPr>
          <a:xfrm>
            <a:off x="1714500" y="5905500"/>
            <a:ext cx="7143750" cy="2952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ة داكنة">
  <p:cSld name="فارغة داكنة">
    <p:bg>
      <p:bgPr>
        <a:solidFill>
          <a:srgbClr val="12183F"/>
        </a:solidFill>
        <a:effectLst/>
      </p:bgPr>
    </p:bg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55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722542"/>
            <a:ext cx="3429000" cy="8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55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304" name="Google Shape;304;p5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فارغة فاتحة">
  <p:cSld name="فارغة فاتحة">
    <p:bg>
      <p:bgPr>
        <a:solidFill>
          <a:srgbClr val="F2F4FF"/>
        </a:solidFill>
        <a:effectLst/>
      </p:bgPr>
    </p:bg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Google Shape;306;p5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5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45010" y="685800"/>
            <a:ext cx="3072581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56"/>
          <p:cNvSpPr/>
          <p:nvPr/>
        </p:nvSpPr>
        <p:spPr>
          <a:xfrm>
            <a:off x="8001000" y="9467850"/>
            <a:ext cx="91440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sp>
        <p:nvSpPr>
          <p:cNvPr id="309" name="Google Shape;309;p56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>
                <a:solidFill>
                  <a:srgbClr val="4A559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ختام العرض">
  <p:cSld name="ختام العرض">
    <p:bg>
      <p:bgPr>
        <a:solidFill>
          <a:srgbClr val="12183F"/>
        </a:solidFill>
        <a:effectLst/>
      </p:bgPr>
    </p:bg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5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57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10250" y="1336151"/>
            <a:ext cx="6667500" cy="1709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57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9485" y="8524875"/>
            <a:ext cx="3045029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57"/>
          <p:cNvPicPr preferRelativeResize="0"/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57750" y="8629650"/>
            <a:ext cx="3810000" cy="14763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57"/>
          <p:cNvSpPr txBox="1">
            <a:spLocks noGrp="1"/>
          </p:cNvSpPr>
          <p:nvPr>
            <p:ph type="title"/>
          </p:nvPr>
        </p:nvSpPr>
        <p:spPr>
          <a:xfrm>
            <a:off x="3810000" y="4048125"/>
            <a:ext cx="10668000" cy="1428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R="0" lvl="1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6" name="Google Shape;316;p57"/>
          <p:cNvSpPr txBox="1">
            <a:spLocks noGrp="1"/>
          </p:cNvSpPr>
          <p:nvPr>
            <p:ph type="body" idx="1"/>
          </p:nvPr>
        </p:nvSpPr>
        <p:spPr>
          <a:xfrm>
            <a:off x="3810000" y="5905500"/>
            <a:ext cx="10668000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  <p:sp>
        <p:nvSpPr>
          <p:cNvPr id="317" name="Google Shape;317;p57"/>
          <p:cNvSpPr txBox="1">
            <a:spLocks noGrp="1"/>
          </p:cNvSpPr>
          <p:nvPr>
            <p:ph type="body" idx="2"/>
          </p:nvPr>
        </p:nvSpPr>
        <p:spPr>
          <a:xfrm>
            <a:off x="3810000" y="7000875"/>
            <a:ext cx="10668000" cy="666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6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jp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6.pn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5.jpeg"/><Relationship Id="rId5" Type="http://schemas.openxmlformats.org/officeDocument/2006/relationships/image" Target="../media/image24.jpe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28.jpg"/><Relationship Id="rId5" Type="http://schemas.openxmlformats.org/officeDocument/2006/relationships/image" Target="../media/image27.jpe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41.jpe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7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3.png"/><Relationship Id="rId5" Type="http://schemas.openxmlformats.org/officeDocument/2006/relationships/image" Target="../media/image3.png"/><Relationship Id="rId10" Type="http://schemas.openxmlformats.org/officeDocument/2006/relationships/image" Target="../media/image47.png"/><Relationship Id="rId4" Type="http://schemas.openxmlformats.org/officeDocument/2006/relationships/image" Target="../media/image42.png"/><Relationship Id="rId9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4" name="Google Shape;48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p8" title="الصورة الرئيسية.png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93538" y="1132140"/>
            <a:ext cx="9312476" cy="8603123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8"/>
          <p:cNvSpPr txBox="1">
            <a:spLocks noGrp="1"/>
          </p:cNvSpPr>
          <p:nvPr>
            <p:ph type="title"/>
          </p:nvPr>
        </p:nvSpPr>
        <p:spPr>
          <a:xfrm>
            <a:off x="7650503" y="3862661"/>
            <a:ext cx="9968026" cy="9906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50"/>
              <a:buNone/>
            </a:pPr>
            <a:r>
              <a:rPr lang="ar-SA" sz="5400" b="1" dirty="0">
                <a:solidFill>
                  <a:srgbClr val="F2F4FF"/>
                </a:solidFill>
              </a:rPr>
              <a:t>صَلِّ معي</a:t>
            </a:r>
            <a:r>
              <a:rPr lang="en-US" sz="5400" b="1" dirty="0">
                <a:solidFill>
                  <a:srgbClr val="F2F4FF"/>
                </a:solidFill>
              </a:rPr>
              <a:t> </a:t>
            </a:r>
            <a:r>
              <a:rPr lang="ar-SA" sz="5400" b="1" dirty="0">
                <a:solidFill>
                  <a:srgbClr val="F2F4FF"/>
                </a:solidFill>
              </a:rPr>
              <a:t>|</a:t>
            </a:r>
            <a:r>
              <a:rPr lang="en-US" sz="5400" b="1" dirty="0">
                <a:solidFill>
                  <a:srgbClr val="F2F4FF"/>
                </a:solidFill>
              </a:rPr>
              <a:t>   Pray With Me </a:t>
            </a:r>
            <a:endParaRPr dirty="0"/>
          </a:p>
        </p:txBody>
      </p:sp>
      <p:sp>
        <p:nvSpPr>
          <p:cNvPr id="487" name="Google Shape;487;p8"/>
          <p:cNvSpPr txBox="1">
            <a:spLocks noGrp="1"/>
          </p:cNvSpPr>
          <p:nvPr>
            <p:ph type="body" idx="1"/>
          </p:nvPr>
        </p:nvSpPr>
        <p:spPr>
          <a:xfrm>
            <a:off x="8569628" y="5365341"/>
            <a:ext cx="9048900" cy="16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3300"/>
              <a:buNone/>
            </a:pPr>
            <a:r>
              <a:rPr lang="ar-SA" sz="3300" dirty="0">
                <a:solidFill>
                  <a:srgbClr val="2EF2C2"/>
                </a:solidFill>
              </a:rPr>
              <a:t>تجربة تعليمية تفاعلية تُعين المسلم الجديد على تعلّم الصلاة وتطبيقها خطوةً بخطوة.</a:t>
            </a:r>
            <a:endParaRPr dirty="0"/>
          </a:p>
        </p:txBody>
      </p:sp>
      <p:sp>
        <p:nvSpPr>
          <p:cNvPr id="488" name="Google Shape;488;p8"/>
          <p:cNvSpPr/>
          <p:nvPr/>
        </p:nvSpPr>
        <p:spPr>
          <a:xfrm>
            <a:off x="1143000" y="8843963"/>
            <a:ext cx="16002000" cy="9600"/>
          </a:xfrm>
          <a:prstGeom prst="rect">
            <a:avLst/>
          </a:prstGeom>
          <a:solidFill>
            <a:srgbClr val="FFFFFF">
              <a:alpha val="121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8"/>
          <p:cNvSpPr/>
          <p:nvPr/>
        </p:nvSpPr>
        <p:spPr>
          <a:xfrm>
            <a:off x="14472130" y="9120188"/>
            <a:ext cx="23580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 dirty="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فريق صَلِّ معي</a:t>
            </a:r>
            <a:endParaRPr sz="1950" i="0" u="none" strike="noStrike" cap="none" dirty="0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490" name="Google Shape;490;p8"/>
          <p:cNvSpPr/>
          <p:nvPr/>
        </p:nvSpPr>
        <p:spPr>
          <a:xfrm>
            <a:off x="1397000" y="9120188"/>
            <a:ext cx="2765700" cy="3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400" tIns="25400" rIns="25400" bIns="25400" anchor="ctr" anchorCtr="0">
            <a:noAutofit/>
          </a:bodyPr>
          <a:lstStyle/>
          <a:p>
            <a:pPr marL="0" marR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99CC"/>
              </a:buClr>
              <a:buSzPts val="1950"/>
              <a:buFont typeface="Readex Pro"/>
              <a:buNone/>
            </a:pPr>
            <a:r>
              <a:rPr lang="ar-SA" sz="1950">
                <a:solidFill>
                  <a:srgbClr val="8E99CC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[تاريخ العرض]</a:t>
            </a:r>
            <a:endParaRPr sz="1950" i="0" u="none" strike="noStrike" cap="none">
              <a:solidFill>
                <a:srgbClr val="000000"/>
              </a:solidFill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491" name="Google Shape;491;p8"/>
          <p:cNvPicPr preferRelativeResize="0"/>
          <p:nvPr/>
        </p:nvPicPr>
        <p:blipFill rotWithShape="1">
          <a:blip r:embed="rId5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8250" y="691134"/>
            <a:ext cx="6572252" cy="16847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p8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954250" y="840995"/>
            <a:ext cx="2190750" cy="1385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Google Shape;498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9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صَلِّ معي</a:t>
            </a:r>
            <a:endParaRPr/>
          </a:p>
        </p:txBody>
      </p:sp>
      <p:sp>
        <p:nvSpPr>
          <p:cNvPr id="501" name="Google Shape;501;p9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محتويات العرض</a:t>
            </a:r>
            <a:endParaRPr/>
          </a:p>
        </p:txBody>
      </p:sp>
      <p:sp>
        <p:nvSpPr>
          <p:cNvPr id="502" name="Google Shape;502;p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</a:t>
            </a:fld>
            <a:endParaRPr/>
          </a:p>
        </p:txBody>
      </p:sp>
      <p:sp>
        <p:nvSpPr>
          <p:cNvPr id="503" name="Google Shape;503;p9"/>
          <p:cNvSpPr txBox="1">
            <a:spLocks noGrp="1"/>
          </p:cNvSpPr>
          <p:nvPr>
            <p:ph type="body" idx="2"/>
          </p:nvPr>
        </p:nvSpPr>
        <p:spPr>
          <a:xfrm>
            <a:off x="12077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04" name="Google Shape;504;p9"/>
          <p:cNvSpPr txBox="1">
            <a:spLocks noGrp="1"/>
          </p:cNvSpPr>
          <p:nvPr>
            <p:ph type="body" idx="3"/>
          </p:nvPr>
        </p:nvSpPr>
        <p:spPr>
          <a:xfrm>
            <a:off x="12077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</a:rPr>
              <a:t>المشكلة</a:t>
            </a:r>
            <a:endParaRPr dirty="0"/>
          </a:p>
        </p:txBody>
      </p:sp>
      <p:sp>
        <p:nvSpPr>
          <p:cNvPr id="505" name="Google Shape;505;p9"/>
          <p:cNvSpPr txBox="1">
            <a:spLocks noGrp="1"/>
          </p:cNvSpPr>
          <p:nvPr>
            <p:ph type="body" idx="4"/>
          </p:nvPr>
        </p:nvSpPr>
        <p:spPr>
          <a:xfrm>
            <a:off x="12077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dirty="0">
                <a:solidFill>
                  <a:srgbClr val="CBCFE6"/>
                </a:solidFill>
              </a:rPr>
              <a:t>مسلمٌ جديد، وقطعة ورق!</a:t>
            </a:r>
            <a:endParaRPr dirty="0"/>
          </a:p>
        </p:txBody>
      </p:sp>
      <p:sp>
        <p:nvSpPr>
          <p:cNvPr id="506" name="Google Shape;506;p9"/>
          <p:cNvSpPr txBox="1">
            <a:spLocks noGrp="1"/>
          </p:cNvSpPr>
          <p:nvPr>
            <p:ph type="body" idx="5"/>
          </p:nvPr>
        </p:nvSpPr>
        <p:spPr>
          <a:xfrm>
            <a:off x="6743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/>
          </a:p>
        </p:txBody>
      </p:sp>
      <p:sp>
        <p:nvSpPr>
          <p:cNvPr id="507" name="Google Shape;507;p9"/>
          <p:cNvSpPr txBox="1">
            <a:spLocks noGrp="1"/>
          </p:cNvSpPr>
          <p:nvPr>
            <p:ph type="body" idx="6"/>
          </p:nvPr>
        </p:nvSpPr>
        <p:spPr>
          <a:xfrm>
            <a:off x="6743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 dirty="0"/>
          </a:p>
        </p:txBody>
      </p:sp>
      <p:sp>
        <p:nvSpPr>
          <p:cNvPr id="508" name="Google Shape;508;p9"/>
          <p:cNvSpPr txBox="1">
            <a:spLocks noGrp="1"/>
          </p:cNvSpPr>
          <p:nvPr>
            <p:ph type="body" idx="7"/>
          </p:nvPr>
        </p:nvSpPr>
        <p:spPr>
          <a:xfrm>
            <a:off x="6743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وداعًا للورق، فقد بزغ الفلق..</a:t>
            </a:r>
            <a:endParaRPr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09" name="Google Shape;509;p9"/>
          <p:cNvSpPr txBox="1">
            <a:spLocks noGrp="1"/>
          </p:cNvSpPr>
          <p:nvPr>
            <p:ph type="body" idx="8"/>
          </p:nvPr>
        </p:nvSpPr>
        <p:spPr>
          <a:xfrm>
            <a:off x="1409700" y="3857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/>
          </a:p>
        </p:txBody>
      </p:sp>
      <p:sp>
        <p:nvSpPr>
          <p:cNvPr id="510" name="Google Shape;510;p9"/>
          <p:cNvSpPr txBox="1">
            <a:spLocks noGrp="1"/>
          </p:cNvSpPr>
          <p:nvPr>
            <p:ph type="body" idx="9"/>
          </p:nvPr>
        </p:nvSpPr>
        <p:spPr>
          <a:xfrm>
            <a:off x="1409700" y="4724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القيمة و</a:t>
            </a:r>
            <a:r>
              <a:rPr lang="ar-SA" sz="2850" b="1" dirty="0">
                <a:solidFill>
                  <a:srgbClr val="F2F4FF"/>
                </a:solidFill>
              </a:rPr>
              <a:t>الأثر</a:t>
            </a:r>
            <a:endParaRPr dirty="0"/>
          </a:p>
        </p:txBody>
      </p:sp>
      <p:sp>
        <p:nvSpPr>
          <p:cNvPr id="511" name="Google Shape;511;p9"/>
          <p:cNvSpPr txBox="1">
            <a:spLocks noGrp="1"/>
          </p:cNvSpPr>
          <p:nvPr>
            <p:ph type="body" idx="13"/>
          </p:nvPr>
        </p:nvSpPr>
        <p:spPr>
          <a:xfrm>
            <a:off x="1409700" y="5419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رفيقٌ يجوبُ الأفق </a:t>
            </a:r>
            <a:endParaRPr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2" name="Google Shape;512;p9"/>
          <p:cNvSpPr txBox="1">
            <a:spLocks noGrp="1"/>
          </p:cNvSpPr>
          <p:nvPr>
            <p:ph type="body" idx="14"/>
          </p:nvPr>
        </p:nvSpPr>
        <p:spPr>
          <a:xfrm>
            <a:off x="12077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/>
          </a:p>
        </p:txBody>
      </p:sp>
      <p:sp>
        <p:nvSpPr>
          <p:cNvPr id="513" name="Google Shape;513;p9"/>
          <p:cNvSpPr txBox="1">
            <a:spLocks noGrp="1"/>
          </p:cNvSpPr>
          <p:nvPr>
            <p:ph type="body" idx="15"/>
          </p:nvPr>
        </p:nvSpPr>
        <p:spPr>
          <a:xfrm>
            <a:off x="12077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</a:rPr>
              <a:t>التقنيات المستخدمة</a:t>
            </a:r>
            <a:endParaRPr dirty="0"/>
          </a:p>
        </p:txBody>
      </p:sp>
      <p:sp>
        <p:nvSpPr>
          <p:cNvPr id="514" name="Google Shape;514;p9"/>
          <p:cNvSpPr txBox="1">
            <a:spLocks noGrp="1"/>
          </p:cNvSpPr>
          <p:nvPr>
            <p:ph type="body" idx="16"/>
          </p:nvPr>
        </p:nvSpPr>
        <p:spPr>
          <a:xfrm>
            <a:off x="12077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وسائلُ تخدمُ الحق</a:t>
            </a:r>
            <a:endParaRPr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5" name="Google Shape;515;p9"/>
          <p:cNvSpPr txBox="1">
            <a:spLocks noGrp="1"/>
          </p:cNvSpPr>
          <p:nvPr>
            <p:ph type="body" idx="17"/>
          </p:nvPr>
        </p:nvSpPr>
        <p:spPr>
          <a:xfrm>
            <a:off x="6743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/>
          </a:p>
        </p:txBody>
      </p:sp>
      <p:sp>
        <p:nvSpPr>
          <p:cNvPr id="516" name="Google Shape;516;p9"/>
          <p:cNvSpPr txBox="1">
            <a:spLocks noGrp="1"/>
          </p:cNvSpPr>
          <p:nvPr>
            <p:ph type="body" idx="18"/>
          </p:nvPr>
        </p:nvSpPr>
        <p:spPr>
          <a:xfrm>
            <a:off x="6743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</a:rPr>
              <a:t>النتائج</a:t>
            </a:r>
            <a:endParaRPr dirty="0"/>
          </a:p>
        </p:txBody>
      </p:sp>
      <p:sp>
        <p:nvSpPr>
          <p:cNvPr id="517" name="Google Shape;517;p9"/>
          <p:cNvSpPr txBox="1">
            <a:spLocks noGrp="1"/>
          </p:cNvSpPr>
          <p:nvPr>
            <p:ph type="body" idx="19"/>
          </p:nvPr>
        </p:nvSpPr>
        <p:spPr>
          <a:xfrm>
            <a:off x="6743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طموحٌ يتحقق</a:t>
            </a:r>
            <a:endParaRPr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9901" name="Agenda 06 sub"/>
          <p:cNvSpPr txBox="1">
            <a:spLocks noGrp="1"/>
          </p:cNvSpPr>
          <p:nvPr/>
        </p:nvSpPr>
        <p:spPr>
          <a:xfrm>
            <a:off x="1409700" y="8086725"/>
            <a:ext cx="44769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r" rtl="1">
              <a:buSzPts val="2250"/>
            </a:pPr>
            <a:r>
              <a:rPr lang="ar-SA" sz="225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أملٌ لا ينضب</a:t>
            </a:r>
            <a:r>
              <a:rPr lang="ar-SA" sz="2250" dirty="0">
                <a:solidFill>
                  <a:srgbClr val="CBCFE6"/>
                </a:solidFill>
                <a:latin typeface="Readex Pro Light"/>
                <a:cs typeface="Readex Pro Light"/>
                <a:sym typeface="Readex Pro Light"/>
              </a:rPr>
              <a:t>، وعزمٌ لا يَخْلَق..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endParaRPr lang="ar-SA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18" name="Google Shape;518;p9"/>
          <p:cNvSpPr txBox="1">
            <a:spLocks noGrp="1"/>
          </p:cNvSpPr>
          <p:nvPr>
            <p:ph type="body" idx="20"/>
          </p:nvPr>
        </p:nvSpPr>
        <p:spPr>
          <a:xfrm>
            <a:off x="1409700" y="652462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/>
          </a:p>
        </p:txBody>
      </p:sp>
      <p:sp>
        <p:nvSpPr>
          <p:cNvPr id="519" name="Google Shape;519;p9"/>
          <p:cNvSpPr txBox="1">
            <a:spLocks noGrp="1"/>
          </p:cNvSpPr>
          <p:nvPr>
            <p:ph type="body" idx="21"/>
          </p:nvPr>
        </p:nvSpPr>
        <p:spPr>
          <a:xfrm>
            <a:off x="1409700" y="739140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الاستمرار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 dirty="0"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4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250"/>
            </a:pPr>
            <a:r>
              <a:rPr lang="ar-SA" sz="3200" dirty="0">
                <a:solidFill>
                  <a:srgbClr val="CBCFE6"/>
                </a:solidFill>
              </a:rPr>
              <a:t>مسلمٌ جديد، وقطعة ورق!</a:t>
            </a:r>
            <a:endParaRPr lang="ar-SA" sz="3200" dirty="0"/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Google Shape;570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13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pic>
        <p:nvPicPr>
          <p:cNvPr id="572" name="Google Shape;572;p13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3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 dirty="0"/>
          </a:p>
        </p:txBody>
      </p:sp>
      <p:sp>
        <p:nvSpPr>
          <p:cNvPr id="575" name="Google Shape;575;p13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4</a:t>
            </a:fld>
            <a:endParaRPr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C6B7ED86-3122-3911-4860-3D4013BFE1D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00412" y="2360310"/>
            <a:ext cx="6910388" cy="6002715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7" name="Google Shape;577;p13"/>
          <p:cNvSpPr txBox="1">
            <a:spLocks noGrp="1"/>
          </p:cNvSpPr>
          <p:nvPr>
            <p:ph type="body" idx="3"/>
          </p:nvPr>
        </p:nvSpPr>
        <p:spPr>
          <a:xfrm>
            <a:off x="10458450" y="3305100"/>
            <a:ext cx="6381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</a:rPr>
              <a:t>هذه الصورة أثارت عندنا سؤال:</a:t>
            </a:r>
            <a:endParaRPr dirty="0"/>
          </a:p>
        </p:txBody>
      </p:sp>
      <p:sp>
        <p:nvSpPr>
          <p:cNvPr id="578" name="Google Shape;578;p13"/>
          <p:cNvSpPr txBox="1">
            <a:spLocks noGrp="1"/>
          </p:cNvSpPr>
          <p:nvPr>
            <p:ph type="body" idx="4"/>
          </p:nvPr>
        </p:nvSpPr>
        <p:spPr>
          <a:xfrm>
            <a:off x="10458450" y="4000200"/>
            <a:ext cx="6381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1" dirty="0">
                <a:solidFill>
                  <a:srgbClr val="C00000"/>
                </a:solidFill>
                <a:latin typeface="Readex Pro"/>
                <a:ea typeface="Readex Pro"/>
                <a:cs typeface="Readex Pro"/>
                <a:sym typeface="Readex Pro"/>
              </a:rPr>
              <a:t>كيف يتعلّم المسلم الجديد الصلاة؟</a:t>
            </a: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 b="1" dirty="0">
                <a:solidFill>
                  <a:srgbClr val="CBCFE6"/>
                </a:solidFill>
              </a:rPr>
              <a:t>-</a:t>
            </a:r>
            <a:r>
              <a:rPr lang="ar-SA" sz="2400" b="1" dirty="0">
                <a:solidFill>
                  <a:srgbClr val="CBCFE6"/>
                </a:solidFill>
              </a:rPr>
              <a:t>من شيخ، أو صديق، أو في المسجد.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 dirty="0"/>
          </a:p>
        </p:txBody>
      </p:sp>
      <p:sp>
        <p:nvSpPr>
          <p:cNvPr id="579" name="Google Shape;579;p13"/>
          <p:cNvSpPr txBox="1">
            <a:spLocks noGrp="1"/>
          </p:cNvSpPr>
          <p:nvPr>
            <p:ph type="body" idx="5"/>
          </p:nvPr>
        </p:nvSpPr>
        <p:spPr>
          <a:xfrm>
            <a:off x="9516836" y="5753100"/>
            <a:ext cx="7323364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لكن ماذا لو </a:t>
            </a:r>
            <a:r>
              <a:rPr lang="ar-SA" sz="2850" b="1" dirty="0">
                <a:solidFill>
                  <a:srgbClr val="2EF2C2"/>
                </a:solidFill>
              </a:rPr>
              <a:t>لم يملك هذه الخيارات</a:t>
            </a:r>
            <a:r>
              <a:rPr lang="ar-SA" sz="285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؟</a:t>
            </a:r>
            <a:endParaRPr dirty="0"/>
          </a:p>
        </p:txBody>
      </p:sp>
      <p:sp>
        <p:nvSpPr>
          <p:cNvPr id="580" name="Google Shape;580;p13"/>
          <p:cNvSpPr txBox="1">
            <a:spLocks noGrp="1"/>
          </p:cNvSpPr>
          <p:nvPr>
            <p:ph type="body" idx="6"/>
          </p:nvPr>
        </p:nvSpPr>
        <p:spPr>
          <a:xfrm>
            <a:off x="10172700" y="6486450"/>
            <a:ext cx="66675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1" dirty="0">
                <a:solidFill>
                  <a:srgbClr val="CBCFE6"/>
                </a:solidFill>
              </a:rPr>
              <a:t>سيلجأ غالبًا إلى الإنترنت: يوتيوب أو محرك بحث،</a:t>
            </a: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1" dirty="0">
                <a:solidFill>
                  <a:srgbClr val="CBCFE6"/>
                </a:solidFill>
              </a:rPr>
              <a:t>أو ربما كتيّب تعليمي.. ثم يبدأ بالتطبيق وحده.</a:t>
            </a:r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6" name="Google Shape;55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7" name="Google Shape;557;p12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pic>
        <p:nvPicPr>
          <p:cNvPr id="558" name="Google Shape;558;p12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12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560" name="Google Shape;560;p12"/>
          <p:cNvSpPr txBox="1">
            <a:spLocks noGrp="1"/>
          </p:cNvSpPr>
          <p:nvPr>
            <p:ph type="title"/>
          </p:nvPr>
        </p:nvSpPr>
        <p:spPr>
          <a:xfrm>
            <a:off x="930729" y="2810438"/>
            <a:ext cx="15909471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F0000"/>
                </a:solidFill>
                <a:latin typeface="Readex Pro"/>
                <a:ea typeface="Readex Pro"/>
                <a:cs typeface="Readex Pro"/>
                <a:sym typeface="Readex Pro"/>
              </a:rPr>
              <a:t>كيف يعرف أنه يطبق ما تعلمه بشكل صحيح؟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561" name="Google Shape;561;p12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5</a:t>
            </a:fld>
            <a:endParaRPr/>
          </a:p>
        </p:txBody>
      </p:sp>
      <p:sp>
        <p:nvSpPr>
          <p:cNvPr id="562" name="Google Shape;562;p12"/>
          <p:cNvSpPr txBox="1">
            <a:spLocks noGrp="1"/>
          </p:cNvSpPr>
          <p:nvPr>
            <p:ph type="body" idx="2"/>
          </p:nvPr>
        </p:nvSpPr>
        <p:spPr>
          <a:xfrm>
            <a:off x="6525986" y="3716764"/>
            <a:ext cx="10314214" cy="223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3225"/>
            </a:pPr>
            <a:r>
              <a:rPr lang="ar-SA" sz="3225" dirty="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هل قرأ الفاتحة قراءة صحيحة؟ هل ركع وسجد كما يجب؟ وكيف يطمئن أنه </a:t>
            </a:r>
            <a:r>
              <a:rPr lang="ar-SA" sz="3225" u="sng" dirty="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يصلي كما صلى النبي </a:t>
            </a:r>
            <a:r>
              <a:rPr lang="en-US" u="sng" dirty="0"/>
              <a:t> </a:t>
            </a:r>
            <a:r>
              <a:rPr lang="en-US" sz="3225" u="sng" dirty="0">
                <a:solidFill>
                  <a:srgbClr val="F2F4FF"/>
                </a:solidFill>
                <a:latin typeface="Readex Pro Light"/>
                <a:cs typeface="Readex Pro Light"/>
              </a:rPr>
              <a:t>ﷺ</a:t>
            </a:r>
            <a:r>
              <a:rPr lang="ar-SA" sz="3225" dirty="0">
                <a:solidFill>
                  <a:srgbClr val="F2F4FF"/>
                </a:solidFill>
                <a:latin typeface="Readex Pro Light"/>
                <a:cs typeface="Readex Pro Light"/>
              </a:rPr>
              <a:t>؟</a:t>
            </a:r>
          </a:p>
        </p:txBody>
      </p:sp>
      <p:sp>
        <p:nvSpPr>
          <p:cNvPr id="563" name="Google Shape;563;p12"/>
          <p:cNvSpPr txBox="1">
            <a:spLocks noGrp="1"/>
          </p:cNvSpPr>
          <p:nvPr>
            <p:ph type="body" idx="3"/>
          </p:nvPr>
        </p:nvSpPr>
        <p:spPr>
          <a:xfrm>
            <a:off x="5886300" y="6107580"/>
            <a:ext cx="1095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هنا تظهر الفجوة:</a:t>
            </a:r>
            <a:endParaRPr dirty="0"/>
          </a:p>
        </p:txBody>
      </p:sp>
      <p:sp>
        <p:nvSpPr>
          <p:cNvPr id="564" name="Google Shape;564;p12"/>
          <p:cNvSpPr txBox="1">
            <a:spLocks noGrp="1"/>
          </p:cNvSpPr>
          <p:nvPr>
            <p:ph type="body" idx="4"/>
          </p:nvPr>
        </p:nvSpPr>
        <p:spPr>
          <a:xfrm>
            <a:off x="1583871" y="6849296"/>
            <a:ext cx="1525633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800" b="1" dirty="0">
                <a:solidFill>
                  <a:srgbClr val="CBCFE6"/>
                </a:solidFill>
              </a:rPr>
              <a:t>المحتوى التعليمي متاح، لكن التوجيه والتغذية الراجعة أثناء التطبيق قد لا تكون متاحة؛ فإما أن يكتشف المتعلّم أخطاءه متأخرًا، أو لا يكتشفها أبدًا.</a:t>
            </a:r>
            <a:endParaRPr sz="28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1" name="Google Shape;601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266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5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/>
          </a:p>
        </p:txBody>
      </p:sp>
      <p:pic>
        <p:nvPicPr>
          <p:cNvPr id="603" name="Google Shape;603;p15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15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المشكلة</a:t>
            </a:r>
            <a:endParaRPr/>
          </a:p>
        </p:txBody>
      </p:sp>
      <p:sp>
        <p:nvSpPr>
          <p:cNvPr id="605" name="Google Shape;605;p15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المسلمون حول العالم: فئة تنمو، وفجوة تزداد</a:t>
            </a:r>
            <a:endParaRPr dirty="0"/>
          </a:p>
        </p:txBody>
      </p:sp>
      <p:sp>
        <p:nvSpPr>
          <p:cNvPr id="606" name="Google Shape;606;p15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مجتمعات تقلّ فيها المساجد ومراكز الدعوة، هي الفئة التي يستهدفها صَلِّ معي</a:t>
            </a:r>
            <a:endParaRPr dirty="0"/>
          </a:p>
        </p:txBody>
      </p:sp>
      <p:sp>
        <p:nvSpPr>
          <p:cNvPr id="607" name="Google Shape;607;p15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6</a:t>
            </a:fld>
            <a:endParaRPr/>
          </a:p>
        </p:txBody>
      </p:sp>
      <p:sp>
        <p:nvSpPr>
          <p:cNvPr id="608" name="Google Shape;608;p15"/>
          <p:cNvSpPr txBox="1">
            <a:spLocks noGrp="1"/>
          </p:cNvSpPr>
          <p:nvPr>
            <p:ph type="body" idx="3"/>
          </p:nvPr>
        </p:nvSpPr>
        <p:spPr>
          <a:xfrm>
            <a:off x="13716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70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46</a:t>
            </a:r>
            <a:endParaRPr/>
          </a:p>
        </p:txBody>
      </p:sp>
      <p:sp>
        <p:nvSpPr>
          <p:cNvPr id="609" name="Google Shape;609;p15"/>
          <p:cNvSpPr txBox="1">
            <a:spLocks noGrp="1"/>
          </p:cNvSpPr>
          <p:nvPr>
            <p:ph type="body" idx="4"/>
          </p:nvPr>
        </p:nvSpPr>
        <p:spPr>
          <a:xfrm>
            <a:off x="13716000" y="6092121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مسلم في أوروبا</a:t>
            </a:r>
            <a:endParaRPr b="1" dirty="0"/>
          </a:p>
        </p:txBody>
      </p:sp>
      <p:sp>
        <p:nvSpPr>
          <p:cNvPr id="610" name="Google Shape;610;p15"/>
          <p:cNvSpPr txBox="1">
            <a:spLocks noGrp="1"/>
          </p:cNvSpPr>
          <p:nvPr>
            <p:ph type="body" idx="5"/>
          </p:nvPr>
        </p:nvSpPr>
        <p:spPr>
          <a:xfrm>
            <a:off x="13716000" y="5577921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مليون · 2020</a:t>
            </a:r>
            <a:endParaRPr dirty="0"/>
          </a:p>
        </p:txBody>
      </p:sp>
      <p:sp>
        <p:nvSpPr>
          <p:cNvPr id="611" name="Google Shape;611;p15"/>
          <p:cNvSpPr txBox="1">
            <a:spLocks noGrp="1"/>
          </p:cNvSpPr>
          <p:nvPr>
            <p:ph type="body" idx="6"/>
          </p:nvPr>
        </p:nvSpPr>
        <p:spPr>
          <a:xfrm>
            <a:off x="9715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70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5.9</a:t>
            </a:r>
            <a:endParaRPr/>
          </a:p>
        </p:txBody>
      </p:sp>
      <p:sp>
        <p:nvSpPr>
          <p:cNvPr id="612" name="Google Shape;612;p15"/>
          <p:cNvSpPr txBox="1">
            <a:spLocks noGrp="1"/>
          </p:cNvSpPr>
          <p:nvPr>
            <p:ph type="body" idx="7"/>
          </p:nvPr>
        </p:nvSpPr>
        <p:spPr>
          <a:xfrm>
            <a:off x="9715500" y="6092121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مسلم في أمريكا الشمالية</a:t>
            </a:r>
            <a:endParaRPr dirty="0"/>
          </a:p>
        </p:txBody>
      </p:sp>
      <p:sp>
        <p:nvSpPr>
          <p:cNvPr id="613" name="Google Shape;613;p15"/>
          <p:cNvSpPr txBox="1">
            <a:spLocks noGrp="1"/>
          </p:cNvSpPr>
          <p:nvPr>
            <p:ph type="body" idx="8"/>
          </p:nvPr>
        </p:nvSpPr>
        <p:spPr>
          <a:xfrm>
            <a:off x="9715500" y="5548312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مليون · 2020</a:t>
            </a:r>
            <a:endParaRPr dirty="0"/>
          </a:p>
        </p:txBody>
      </p:sp>
      <p:sp>
        <p:nvSpPr>
          <p:cNvPr id="614" name="Google Shape;614;p15"/>
          <p:cNvSpPr txBox="1">
            <a:spLocks noGrp="1"/>
          </p:cNvSpPr>
          <p:nvPr>
            <p:ph type="body" idx="9"/>
          </p:nvPr>
        </p:nvSpPr>
        <p:spPr>
          <a:xfrm>
            <a:off x="57150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70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52%</a:t>
            </a:r>
            <a:endParaRPr/>
          </a:p>
        </p:txBody>
      </p:sp>
      <p:sp>
        <p:nvSpPr>
          <p:cNvPr id="615" name="Google Shape;615;p15"/>
          <p:cNvSpPr txBox="1">
            <a:spLocks noGrp="1"/>
          </p:cNvSpPr>
          <p:nvPr>
            <p:ph type="body" idx="13"/>
          </p:nvPr>
        </p:nvSpPr>
        <p:spPr>
          <a:xfrm>
            <a:off x="5715000" y="6092121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نمو المسلمين في أمريكا الشمالية</a:t>
            </a:r>
            <a:endParaRPr dirty="0"/>
          </a:p>
        </p:txBody>
      </p:sp>
      <p:sp>
        <p:nvSpPr>
          <p:cNvPr id="616" name="Google Shape;616;p15"/>
          <p:cNvSpPr txBox="1">
            <a:spLocks noGrp="1"/>
          </p:cNvSpPr>
          <p:nvPr>
            <p:ph type="body" idx="14"/>
          </p:nvPr>
        </p:nvSpPr>
        <p:spPr>
          <a:xfrm>
            <a:off x="5715000" y="5528582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2010 إلى 2020</a:t>
            </a:r>
            <a:endParaRPr dirty="0"/>
          </a:p>
        </p:txBody>
      </p:sp>
      <p:sp>
        <p:nvSpPr>
          <p:cNvPr id="617" name="Google Shape;617;p15"/>
          <p:cNvSpPr txBox="1">
            <a:spLocks noGrp="1"/>
          </p:cNvSpPr>
          <p:nvPr>
            <p:ph type="body" idx="15"/>
          </p:nvPr>
        </p:nvSpPr>
        <p:spPr>
          <a:xfrm>
            <a:off x="1714500" y="4333875"/>
            <a:ext cx="3429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50"/>
              <a:buNone/>
            </a:pPr>
            <a:r>
              <a:rPr lang="ar-SA" sz="705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20%</a:t>
            </a:r>
            <a:endParaRPr/>
          </a:p>
        </p:txBody>
      </p:sp>
      <p:sp>
        <p:nvSpPr>
          <p:cNvPr id="618" name="Google Shape;618;p15"/>
          <p:cNvSpPr txBox="1">
            <a:spLocks noGrp="1"/>
          </p:cNvSpPr>
          <p:nvPr>
            <p:ph type="body" idx="16"/>
          </p:nvPr>
        </p:nvSpPr>
        <p:spPr>
          <a:xfrm>
            <a:off x="1714500" y="6121375"/>
            <a:ext cx="3429000" cy="714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من إجمالي المسلمين في أمريكا</a:t>
            </a:r>
            <a:endParaRPr dirty="0"/>
          </a:p>
        </p:txBody>
      </p:sp>
      <p:sp>
        <p:nvSpPr>
          <p:cNvPr id="619" name="Google Shape;619;p15"/>
          <p:cNvSpPr txBox="1">
            <a:spLocks noGrp="1"/>
          </p:cNvSpPr>
          <p:nvPr>
            <p:ph type="body" idx="17"/>
          </p:nvPr>
        </p:nvSpPr>
        <p:spPr>
          <a:xfrm>
            <a:off x="1714500" y="5505449"/>
            <a:ext cx="3429000" cy="1000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25"/>
              <a:buNone/>
            </a:pPr>
            <a:r>
              <a:rPr lang="ar-SA" sz="2025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مسلمون جدد · 2025</a:t>
            </a:r>
            <a:endParaRPr dirty="0"/>
          </a:p>
        </p:txBody>
      </p:sp>
      <p:sp>
        <p:nvSpPr>
          <p:cNvPr id="620" name="Google Shape;620;p15"/>
          <p:cNvSpPr txBox="1">
            <a:spLocks noGrp="1"/>
          </p:cNvSpPr>
          <p:nvPr>
            <p:ph type="body" idx="18"/>
          </p:nvPr>
        </p:nvSpPr>
        <p:spPr>
          <a:xfrm>
            <a:off x="8381075" y="8763000"/>
            <a:ext cx="84591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المصدر: مركز Pew للأبحاث، 2025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BFCFE014-E271-7A4D-289C-BA0D1BADC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>
            <a:extLst>
              <a:ext uri="{FF2B5EF4-FFF2-40B4-BE49-F238E27FC236}">
                <a16:creationId xmlns:a16="http://schemas.microsoft.com/office/drawing/2014/main" id="{F2C866D5-0C9D-45C2-9477-49E58E13731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>
            <a:extLst>
              <a:ext uri="{FF2B5EF4-FFF2-40B4-BE49-F238E27FC236}">
                <a16:creationId xmlns:a16="http://schemas.microsoft.com/office/drawing/2014/main" id="{4C0F0305-FBA8-A951-7BB9-B77D66A5C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</a:t>
            </a:r>
            <a:r>
              <a:rPr lang="ar-SA" sz="8400" b="1" dirty="0">
                <a:solidFill>
                  <a:srgbClr val="2EF2C2"/>
                </a:solidFill>
              </a:rPr>
              <a:t>2</a:t>
            </a:r>
            <a:endParaRPr dirty="0"/>
          </a:p>
        </p:txBody>
      </p:sp>
      <p:sp>
        <p:nvSpPr>
          <p:cNvPr id="528" name="Google Shape;528;p10">
            <a:extLst>
              <a:ext uri="{FF2B5EF4-FFF2-40B4-BE49-F238E27FC236}">
                <a16:creationId xmlns:a16="http://schemas.microsoft.com/office/drawing/2014/main" id="{7ECD5D46-8E46-6CD3-44E3-DC4E234C4B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ar-SA" sz="60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 dirty="0"/>
          </a:p>
        </p:txBody>
      </p:sp>
      <p:sp>
        <p:nvSpPr>
          <p:cNvPr id="529" name="Google Shape;529;p10">
            <a:extLst>
              <a:ext uri="{FF2B5EF4-FFF2-40B4-BE49-F238E27FC236}">
                <a16:creationId xmlns:a16="http://schemas.microsoft.com/office/drawing/2014/main" id="{339BBF5C-8EC2-0045-678C-10B422F22AA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7294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250"/>
            </a:pPr>
            <a:r>
              <a:rPr lang="ar-SA" sz="320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وداعًا للورق، فقد بزغ الفلق..</a:t>
            </a:r>
            <a:endParaRPr lang="ar-SA" sz="3200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530" name="Google Shape;530;p10">
            <a:extLst>
              <a:ext uri="{FF2B5EF4-FFF2-40B4-BE49-F238E27FC236}">
                <a16:creationId xmlns:a16="http://schemas.microsoft.com/office/drawing/2014/main" id="{773D1381-B263-2B6D-D5A4-6A2222C2D2F7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8658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Google Shape;586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14"/>
          <p:cNvSpPr/>
          <p:nvPr/>
        </p:nvSpPr>
        <p:spPr>
          <a:xfrm>
            <a:off x="73914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pic>
        <p:nvPicPr>
          <p:cNvPr id="588" name="Google Shape;588;p14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4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endParaRPr/>
          </a:p>
        </p:txBody>
      </p:sp>
      <p:sp>
        <p:nvSpPr>
          <p:cNvPr id="590" name="Google Shape;590;p14"/>
          <p:cNvSpPr txBox="1">
            <a:spLocks noGrp="1"/>
          </p:cNvSpPr>
          <p:nvPr>
            <p:ph type="title"/>
          </p:nvPr>
        </p:nvSpPr>
        <p:spPr>
          <a:xfrm>
            <a:off x="1543050" y="3305175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صَلِّ معي | </a:t>
            </a:r>
            <a:r>
              <a:rPr lang="en-US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Pray With Me</a:t>
            </a:r>
            <a:endParaRPr dirty="0"/>
          </a:p>
        </p:txBody>
      </p:sp>
      <p:sp>
        <p:nvSpPr>
          <p:cNvPr id="591" name="Google Shape;591;p1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8</a:t>
            </a:fld>
            <a:endParaRPr/>
          </a:p>
        </p:txBody>
      </p:sp>
      <p:sp>
        <p:nvSpPr>
          <p:cNvPr id="593" name="Google Shape;593;p14"/>
          <p:cNvSpPr txBox="1">
            <a:spLocks noGrp="1"/>
          </p:cNvSpPr>
          <p:nvPr>
            <p:ph type="body" idx="3"/>
          </p:nvPr>
        </p:nvSpPr>
        <p:spPr>
          <a:xfrm>
            <a:off x="9696300" y="4414380"/>
            <a:ext cx="7143900" cy="7085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50"/>
              <a:buNone/>
            </a:pPr>
            <a:r>
              <a:rPr lang="ar-SA" sz="3450" b="1" dirty="0">
                <a:solidFill>
                  <a:srgbClr val="2EF2C2"/>
                </a:solidFill>
              </a:rPr>
              <a:t>من التلقين إلى التطبيق</a:t>
            </a:r>
            <a:endParaRPr dirty="0"/>
          </a:p>
        </p:txBody>
      </p:sp>
      <p:sp>
        <p:nvSpPr>
          <p:cNvPr id="594" name="Google Shape;594;p14"/>
          <p:cNvSpPr txBox="1">
            <a:spLocks noGrp="1"/>
          </p:cNvSpPr>
          <p:nvPr>
            <p:ph type="body" idx="4"/>
          </p:nvPr>
        </p:nvSpPr>
        <p:spPr>
          <a:xfrm>
            <a:off x="9696300" y="5446526"/>
            <a:ext cx="7143900" cy="1840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dirty="0">
                <a:solidFill>
                  <a:srgbClr val="F2F4FF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تجربة تفاعلية تجعل تعلم الصلاة رحلة تعليمية تطبيقية يتفاعل فيها النظام مع المستخدم خطوة بخطوة حتى يصل إلى الإتقان.</a:t>
            </a:r>
            <a:endParaRPr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sp>
        <p:nvSpPr>
          <p:cNvPr id="595" name="Google Shape;595;p14"/>
          <p:cNvSpPr txBox="1">
            <a:spLocks noGrp="1"/>
          </p:cNvSpPr>
          <p:nvPr>
            <p:ph type="body" idx="5"/>
          </p:nvPr>
        </p:nvSpPr>
        <p:spPr>
          <a:xfrm>
            <a:off x="9696300" y="8327425"/>
            <a:ext cx="7143900" cy="2751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rPr lang="ar-SA" sz="19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صورة مولّدة بالذكاء الاصطناعي</a:t>
            </a:r>
            <a:endParaRPr dirty="0"/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D88C792D-3444-E6C9-B591-0457AE7884D3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5"/>
          <a:srcRect/>
          <a:stretch>
            <a:fillRect/>
          </a:stretch>
        </p:blipFill>
        <p:spPr>
          <a:xfrm>
            <a:off x="2190750" y="2887619"/>
            <a:ext cx="5715000" cy="571500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1" name="Google Shape;881;p28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28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83" name="Google Shape;883;p28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</a:t>
            </a:r>
            <a:r>
              <a:rPr lang="ar-SA" sz="1800" dirty="0">
                <a:solidFill>
                  <a:srgbClr val="2EF2C2"/>
                </a:solidFill>
              </a:rPr>
              <a:t> – آلية العمل</a:t>
            </a:r>
            <a:endParaRPr dirty="0"/>
          </a:p>
        </p:txBody>
      </p:sp>
      <p:sp>
        <p:nvSpPr>
          <p:cNvPr id="884" name="Google Shape;884;p28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</a:rPr>
              <a:t>تقومُ الفكرة على:</a:t>
            </a:r>
            <a:endParaRPr dirty="0"/>
          </a:p>
        </p:txBody>
      </p:sp>
      <p:sp>
        <p:nvSpPr>
          <p:cNvPr id="885" name="Google Shape;885;p28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dirty="0">
                <a:solidFill>
                  <a:srgbClr val="FF0000"/>
                </a:solidFill>
                <a:latin typeface="Readex Pro"/>
                <a:ea typeface="Readex Pro"/>
                <a:cs typeface="Readex Pro"/>
                <a:sym typeface="Readex Pro"/>
              </a:rPr>
              <a:t>التدريب التفاعلي؛ </a:t>
            </a:r>
            <a:r>
              <a:rPr lang="ar-SA" sz="22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حيث يعرض النظام الخطوة، ثم يطلب من المستخدم تطبيقها، مع إعطاءه تغذية راجعة فورية</a:t>
            </a:r>
            <a:endParaRPr dirty="0"/>
          </a:p>
        </p:txBody>
      </p:sp>
      <p:sp>
        <p:nvSpPr>
          <p:cNvPr id="886" name="Google Shape;886;p28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9</a:t>
            </a:fld>
            <a:endParaRPr/>
          </a:p>
        </p:txBody>
      </p:sp>
      <p:sp>
        <p:nvSpPr>
          <p:cNvPr id="887" name="Google Shape;887;p28"/>
          <p:cNvSpPr txBox="1">
            <a:spLocks noGrp="1"/>
          </p:cNvSpPr>
          <p:nvPr>
            <p:ph type="body" idx="3"/>
          </p:nvPr>
        </p:nvSpPr>
        <p:spPr>
          <a:xfrm>
            <a:off x="9669088" y="3711273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</a:rPr>
              <a:t>عند قراءة ذكر أو سورة</a:t>
            </a:r>
            <a:endParaRPr dirty="0"/>
          </a:p>
        </p:txBody>
      </p:sp>
      <p:sp>
        <p:nvSpPr>
          <p:cNvPr id="888" name="Google Shape;888;p28"/>
          <p:cNvSpPr txBox="1">
            <a:spLocks noGrp="1"/>
          </p:cNvSpPr>
          <p:nvPr>
            <p:ph type="body" idx="4"/>
          </p:nvPr>
        </p:nvSpPr>
        <p:spPr>
          <a:xfrm>
            <a:off x="9669088" y="4357762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يستمع النظام إلى المستخدم عن طريق:</a:t>
            </a:r>
            <a:endParaRPr dirty="0"/>
          </a:p>
        </p:txBody>
      </p:sp>
      <p:sp>
        <p:nvSpPr>
          <p:cNvPr id="889" name="Google Shape;889;p28"/>
          <p:cNvSpPr txBox="1">
            <a:spLocks noGrp="1"/>
          </p:cNvSpPr>
          <p:nvPr>
            <p:ph type="body" idx="5"/>
          </p:nvPr>
        </p:nvSpPr>
        <p:spPr>
          <a:xfrm>
            <a:off x="1409700" y="3711273"/>
            <a:ext cx="71439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عند أداء الحركات والأفعال</a:t>
            </a:r>
            <a:endParaRPr dirty="0"/>
          </a:p>
        </p:txBody>
      </p:sp>
      <p:sp>
        <p:nvSpPr>
          <p:cNvPr id="890" name="Google Shape;890;p28"/>
          <p:cNvSpPr txBox="1">
            <a:spLocks noGrp="1"/>
          </p:cNvSpPr>
          <p:nvPr>
            <p:ph type="body" idx="6"/>
          </p:nvPr>
        </p:nvSpPr>
        <p:spPr>
          <a:xfrm>
            <a:off x="1409700" y="4301973"/>
            <a:ext cx="71439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ar-SA" sz="24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يستخدم النظام:</a:t>
            </a:r>
            <a:endParaRPr dirty="0"/>
          </a:p>
        </p:txBody>
      </p:sp>
      <p:sp>
        <p:nvSpPr>
          <p:cNvPr id="891" name="Google Shape;891;p28"/>
          <p:cNvSpPr txBox="1">
            <a:spLocks noGrp="1"/>
          </p:cNvSpPr>
          <p:nvPr>
            <p:ph type="body" idx="7"/>
          </p:nvPr>
        </p:nvSpPr>
        <p:spPr>
          <a:xfrm>
            <a:off x="11234056" y="5143500"/>
            <a:ext cx="5578931" cy="235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تقنية التعرف الآلي على الكلام </a:t>
            </a:r>
            <a:r>
              <a:rPr lang="en-US" sz="255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ASR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 dirty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dirty="0">
                <a:solidFill>
                  <a:srgbClr val="F2F4FF"/>
                </a:solidFill>
              </a:rPr>
              <a:t>ويحلل ما نطقه، ويقدم له تغذية راجعة</a:t>
            </a:r>
            <a:endParaRPr lang="ar-SA" dirty="0"/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 dirty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فورية تساعده على تصحيح الأداء</a:t>
            </a:r>
            <a:endParaRPr dirty="0"/>
          </a:p>
        </p:txBody>
      </p:sp>
      <p:sp>
        <p:nvSpPr>
          <p:cNvPr id="892" name="Google Shape;892;p28"/>
          <p:cNvSpPr txBox="1">
            <a:spLocks noGrp="1"/>
          </p:cNvSpPr>
          <p:nvPr>
            <p:ph type="body" idx="8"/>
          </p:nvPr>
        </p:nvSpPr>
        <p:spPr>
          <a:xfrm>
            <a:off x="2286000" y="4851095"/>
            <a:ext cx="6267600" cy="2573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en-US" sz="255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Computer vision/Pose estimation</a:t>
            </a:r>
            <a:endParaRPr dirty="0"/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sz="2550" b="0" dirty="0">
              <a:solidFill>
                <a:srgbClr val="F2F4FF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dirty="0">
                <a:solidFill>
                  <a:srgbClr val="F2F4FF"/>
                </a:solidFill>
              </a:rPr>
              <a:t>لتحليل وضعية جسم المستخدم عبر الكاميرا ومقارنتها بالوضعية المستهدفة</a:t>
            </a: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endParaRPr lang="ar-SA" sz="2550" dirty="0">
              <a:solidFill>
                <a:srgbClr val="F2F4FF"/>
              </a:solidFill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50"/>
              <a:buNone/>
            </a:pPr>
            <a:r>
              <a:rPr lang="ar-SA" sz="2550" dirty="0">
                <a:solidFill>
                  <a:srgbClr val="F2F4FF"/>
                </a:solidFill>
              </a:rPr>
              <a:t>ثم تقديم إرشاد مبسط عند وجود اختلاف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935EB8-57AF-A2F1-EA89-BA736929E7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64802" y="7487072"/>
            <a:ext cx="4689509" cy="23808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F5D3D1-6240-D3BA-62F2-6B44FE4CCC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8655" y="7465267"/>
            <a:ext cx="5606145" cy="24026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الحل – آلية العمل</a:t>
            </a:r>
            <a:endParaRPr dirty="0"/>
          </a:p>
        </p:txBody>
      </p:sp>
      <p:sp>
        <p:nvSpPr>
          <p:cNvPr id="819" name="Google Shape;819;p24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آلية عمل الحل</a:t>
            </a:r>
            <a:endParaRPr/>
          </a:p>
        </p:txBody>
      </p:sp>
      <p:sp>
        <p:nvSpPr>
          <p:cNvPr id="820" name="Google Shape;820;p24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التلقين إلى التطبيق</a:t>
            </a:r>
            <a:endParaRPr dirty="0"/>
          </a:p>
        </p:txBody>
      </p:sp>
      <p:sp>
        <p:nvSpPr>
          <p:cNvPr id="821" name="Google Shape;821;p24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10</a:t>
            </a:fld>
            <a:endParaRPr/>
          </a:p>
        </p:txBody>
      </p:sp>
      <p:sp>
        <p:nvSpPr>
          <p:cNvPr id="822" name="Google Shape;822;p24"/>
          <p:cNvSpPr/>
          <p:nvPr/>
        </p:nvSpPr>
        <p:spPr>
          <a:xfrm>
            <a:off x="13716000" y="4333799"/>
            <a:ext cx="3429000" cy="4401985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 lang="en-US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المدخلات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صورة المستخدم وصوته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600"/>
              </a:spcBef>
              <a:spcAft>
                <a:spcPts val="0"/>
              </a:spcAft>
              <a:buNone/>
            </a:pP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عبر كاميرا الجهاز وميكروفونه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1" dirty="0"/>
          </a:p>
        </p:txBody>
      </p:sp>
      <p:sp>
        <p:nvSpPr>
          <p:cNvPr id="823" name="Google Shape;823;p24"/>
          <p:cNvSpPr/>
          <p:nvPr/>
        </p:nvSpPr>
        <p:spPr>
          <a:xfrm>
            <a:off x="9715500" y="4333799"/>
            <a:ext cx="3429000" cy="4401987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 lang="en-US"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المعالجة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en-US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Pose</a:t>
            </a:r>
            <a:r>
              <a:rPr lang="en-US" sz="2175" b="1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en-US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Estimation </a:t>
            </a: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 لتحليل الوضعية +</a:t>
            </a:r>
            <a:r>
              <a:rPr lang="en-US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ASR </a:t>
            </a: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 لتحويل التلاوة إلى نص، ومقارنتهما بمحتوى مراجَع ومرتبط بمصادره</a:t>
            </a:r>
            <a:endParaRPr lang="ar-SA" sz="3600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/>
          <p:cNvSpPr/>
          <p:nvPr/>
        </p:nvSpPr>
        <p:spPr>
          <a:xfrm>
            <a:off x="5715000" y="4333800"/>
            <a:ext cx="3429000" cy="4401984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125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 lang="ar-SA"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38125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المخرجات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تغذية راجعة تعليمية فورية</a:t>
            </a:r>
            <a:r>
              <a:rPr lang="ar-SA" dirty="0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وشرح مبسط مرتبط بالمصدر</a:t>
            </a:r>
            <a:endParaRPr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5" name="Google Shape;825;p24"/>
          <p:cNvSpPr/>
          <p:nvPr/>
        </p:nvSpPr>
        <p:spPr>
          <a:xfrm>
            <a:off x="1714500" y="4333800"/>
            <a:ext cx="3429000" cy="4401984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 lang="ar-SA"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الأثر</a:t>
            </a:r>
            <a:endParaRPr dirty="0">
              <a:solidFill>
                <a:schemeClr val="dk1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r>
              <a:rPr lang="ar-SA" sz="2175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تحسين الأداء بين المحاولات والانتقال من التلقين إلى التطبيق</a:t>
            </a:r>
            <a:endParaRPr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pic>
        <p:nvPicPr>
          <p:cNvPr id="826" name="Google Shape;826;p24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BE69DA91-3855-6A87-0B23-B003A90F3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>
            <a:extLst>
              <a:ext uri="{FF2B5EF4-FFF2-40B4-BE49-F238E27FC236}">
                <a16:creationId xmlns:a16="http://schemas.microsoft.com/office/drawing/2014/main" id="{CAFCFA99-CFCD-04C7-BD8F-C90E1F2A97B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>
            <a:extLst>
              <a:ext uri="{FF2B5EF4-FFF2-40B4-BE49-F238E27FC236}">
                <a16:creationId xmlns:a16="http://schemas.microsoft.com/office/drawing/2014/main" id="{37F47A12-56D5-2272-CF56-6D0EF487A7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 dirty="0"/>
          </a:p>
        </p:txBody>
      </p:sp>
      <p:sp>
        <p:nvSpPr>
          <p:cNvPr id="528" name="Google Shape;528;p10">
            <a:extLst>
              <a:ext uri="{FF2B5EF4-FFF2-40B4-BE49-F238E27FC236}">
                <a16:creationId xmlns:a16="http://schemas.microsoft.com/office/drawing/2014/main" id="{9CF11154-6DFD-3C92-8F18-62055ADA1B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2850"/>
            </a:pPr>
            <a:r>
              <a:rPr lang="ar-SA" sz="6000" b="1" dirty="0">
                <a:solidFill>
                  <a:srgbClr val="F2F4FF"/>
                </a:solidFill>
              </a:rPr>
              <a:t>القيمة والأثر</a:t>
            </a:r>
            <a:endParaRPr lang="ar-SA" sz="6000" dirty="0"/>
          </a:p>
        </p:txBody>
      </p:sp>
      <p:sp>
        <p:nvSpPr>
          <p:cNvPr id="529" name="Google Shape;529;p10">
            <a:extLst>
              <a:ext uri="{FF2B5EF4-FFF2-40B4-BE49-F238E27FC236}">
                <a16:creationId xmlns:a16="http://schemas.microsoft.com/office/drawing/2014/main" id="{2ACCDEF7-EC24-40EA-684E-9D697C7C1DC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7294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250"/>
            </a:pPr>
            <a:r>
              <a:rPr lang="ar-SA" sz="320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رفيقٌ يجوبُ الأفق </a:t>
            </a:r>
            <a:endParaRPr lang="ar-SA" sz="3200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530" name="Google Shape;530;p10">
            <a:extLst>
              <a:ext uri="{FF2B5EF4-FFF2-40B4-BE49-F238E27FC236}">
                <a16:creationId xmlns:a16="http://schemas.microsoft.com/office/drawing/2014/main" id="{598479A6-01A2-3DB3-6675-05E27EFBCDA5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154027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35">
          <a:extLst>
            <a:ext uri="{FF2B5EF4-FFF2-40B4-BE49-F238E27FC236}">
              <a16:creationId xmlns:a16="http://schemas.microsoft.com/office/drawing/2014/main" id="{33CB0EE9-741B-29C5-D612-D2B9336E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">
            <a:extLst>
              <a:ext uri="{FF2B5EF4-FFF2-40B4-BE49-F238E27FC236}">
                <a16:creationId xmlns:a16="http://schemas.microsoft.com/office/drawing/2014/main" id="{6F11B4E2-2372-A99F-786C-3C478D0597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 dirty="0"/>
          </a:p>
        </p:txBody>
      </p:sp>
      <p:sp>
        <p:nvSpPr>
          <p:cNvPr id="538" name="Google Shape;538;p11">
            <a:extLst>
              <a:ext uri="{FF2B5EF4-FFF2-40B4-BE49-F238E27FC236}">
                <a16:creationId xmlns:a16="http://schemas.microsoft.com/office/drawing/2014/main" id="{DFFD9CED-7B8C-6618-F200-CECC1F8171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000" b="1" dirty="0">
                <a:solidFill>
                  <a:srgbClr val="F2F4FF"/>
                </a:solidFill>
              </a:rPr>
              <a:t>تعلم الصلاة عبر </a:t>
            </a:r>
            <a:r>
              <a:rPr lang="ar-SA" sz="4000" b="1" u="sng" dirty="0">
                <a:solidFill>
                  <a:srgbClr val="F2F4FF"/>
                </a:solidFill>
              </a:rPr>
              <a:t>الإنترنت</a:t>
            </a:r>
            <a:r>
              <a:rPr lang="ar-SA" sz="4000" b="1" dirty="0">
                <a:solidFill>
                  <a:srgbClr val="F2F4FF"/>
                </a:solidFill>
              </a:rPr>
              <a:t>:</a:t>
            </a:r>
            <a:endParaRPr sz="4000" dirty="0"/>
          </a:p>
        </p:txBody>
      </p:sp>
      <p:sp>
        <p:nvSpPr>
          <p:cNvPr id="540" name="Google Shape;540;p11">
            <a:extLst>
              <a:ext uri="{FF2B5EF4-FFF2-40B4-BE49-F238E27FC236}">
                <a16:creationId xmlns:a16="http://schemas.microsoft.com/office/drawing/2014/main" id="{1E160C62-4D11-6BCE-395D-A1B6C363FE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12</a:t>
            </a:fld>
            <a:endParaRPr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D9A4F25A-DDCE-5D5A-84F1-14D1A7EA6E2C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374"/>
          <a:stretch>
            <a:fillRect/>
          </a:stretch>
        </p:blipFill>
        <p:spPr>
          <a:xfrm>
            <a:off x="12311744" y="3714746"/>
            <a:ext cx="3967162" cy="54292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38106B8B-C9A8-9B0B-4637-B40F627DC59D}"/>
              </a:ext>
            </a:extLst>
          </p:cNvPr>
          <p:cNvPicPr>
            <a:picLocks noGrp="1" noChangeAspect="1"/>
          </p:cNvPicPr>
          <p:nvPr>
            <p:ph type="pic" idx="4"/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59625" y="3714745"/>
            <a:ext cx="3968750" cy="5429251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99E43645-0B42-665D-3979-8B54CB038321}"/>
              </a:ext>
            </a:extLst>
          </p:cNvPr>
          <p:cNvPicPr>
            <a:picLocks noGrp="1" noChangeAspect="1"/>
          </p:cNvPicPr>
          <p:nvPr>
            <p:ph type="pic" idx="6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94856" y="3714745"/>
            <a:ext cx="3581400" cy="5429251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11">
            <a:extLst>
              <a:ext uri="{FF2B5EF4-FFF2-40B4-BE49-F238E27FC236}">
                <a16:creationId xmlns:a16="http://schemas.microsoft.com/office/drawing/2014/main" id="{25623255-5B26-D15A-984C-82AB3CE37389}"/>
              </a:ext>
            </a:extLst>
          </p:cNvPr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50" name="Google Shape;550;p11">
            <a:extLst>
              <a:ext uri="{FF2B5EF4-FFF2-40B4-BE49-F238E27FC236}">
                <a16:creationId xmlns:a16="http://schemas.microsoft.com/office/drawing/2014/main" id="{38687DA2-30F2-6FEB-BD42-4CB44822AD4B}"/>
              </a:ext>
            </a:extLst>
          </p:cNvPr>
          <p:cNvPicPr preferRelativeResize="0"/>
          <p:nvPr/>
        </p:nvPicPr>
        <p:blipFill rotWithShape="1"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39;p11">
            <a:extLst>
              <a:ext uri="{FF2B5EF4-FFF2-40B4-BE49-F238E27FC236}">
                <a16:creationId xmlns:a16="http://schemas.microsoft.com/office/drawing/2014/main" id="{54DC31F8-D3A2-D1B2-8FB9-F07969F16B3D}"/>
              </a:ext>
            </a:extLst>
          </p:cNvPr>
          <p:cNvSpPr txBox="1">
            <a:spLocks/>
          </p:cNvSpPr>
          <p:nvPr/>
        </p:nvSpPr>
        <p:spPr>
          <a:xfrm>
            <a:off x="1714500" y="2667000"/>
            <a:ext cx="15430500" cy="685800"/>
          </a:xfrm>
          <a:prstGeom prst="rect">
            <a:avLst/>
          </a:prstGeom>
          <a:noFill/>
          <a:ln w="114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>
              <a:buSzPts val="2250"/>
            </a:pPr>
            <a:r>
              <a:rPr lang="ar-SA" sz="2250" b="1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تعتمد العديد من الحلول المتاحة على مجرد عرض المحتوى التعليمي</a:t>
            </a:r>
            <a:endParaRPr lang="ar-SA" b="1" dirty="0"/>
          </a:p>
        </p:txBody>
      </p:sp>
    </p:spTree>
    <p:extLst>
      <p:ext uri="{BB962C8B-B14F-4D97-AF65-F5344CB8AC3E}">
        <p14:creationId xmlns:p14="http://schemas.microsoft.com/office/powerpoint/2010/main" val="22388570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35">
          <a:extLst>
            <a:ext uri="{FF2B5EF4-FFF2-40B4-BE49-F238E27FC236}">
              <a16:creationId xmlns:a16="http://schemas.microsoft.com/office/drawing/2014/main" id="{1BF8A107-AC22-14EA-946D-5AF8C5AE6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">
            <a:extLst>
              <a:ext uri="{FF2B5EF4-FFF2-40B4-BE49-F238E27FC236}">
                <a16:creationId xmlns:a16="http://schemas.microsoft.com/office/drawing/2014/main" id="{E6152568-D954-3A56-A0E0-BDC8872374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 dirty="0"/>
          </a:p>
        </p:txBody>
      </p:sp>
      <p:sp>
        <p:nvSpPr>
          <p:cNvPr id="538" name="Google Shape;538;p11">
            <a:extLst>
              <a:ext uri="{FF2B5EF4-FFF2-40B4-BE49-F238E27FC236}">
                <a16:creationId xmlns:a16="http://schemas.microsoft.com/office/drawing/2014/main" id="{04C16D9B-906B-8EA8-E23D-B1890CA753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4500" y="1643741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000" b="1" dirty="0">
                <a:solidFill>
                  <a:srgbClr val="F2F4FF"/>
                </a:solidFill>
              </a:rPr>
              <a:t>تعلم الصلاة عبر </a:t>
            </a:r>
            <a:r>
              <a:rPr lang="ar-SA" sz="4000" b="1" u="sng" dirty="0">
                <a:solidFill>
                  <a:srgbClr val="F2F4FF"/>
                </a:solidFill>
              </a:rPr>
              <a:t>التطبيقات</a:t>
            </a:r>
            <a:r>
              <a:rPr lang="ar-SA" sz="4000" b="1" dirty="0">
                <a:solidFill>
                  <a:srgbClr val="F2F4FF"/>
                </a:solidFill>
              </a:rPr>
              <a:t>:</a:t>
            </a:r>
            <a:endParaRPr sz="4000" dirty="0"/>
          </a:p>
        </p:txBody>
      </p:sp>
      <p:sp>
        <p:nvSpPr>
          <p:cNvPr id="540" name="Google Shape;540;p11">
            <a:extLst>
              <a:ext uri="{FF2B5EF4-FFF2-40B4-BE49-F238E27FC236}">
                <a16:creationId xmlns:a16="http://schemas.microsoft.com/office/drawing/2014/main" id="{8E81604B-F984-67CE-F15C-3E4054F8424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13</a:t>
            </a:fld>
            <a:endParaRPr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739C7E6-1D4D-10B1-2877-595451C6AD22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2268200" y="3305175"/>
            <a:ext cx="3099345" cy="5953123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11">
            <a:extLst>
              <a:ext uri="{FF2B5EF4-FFF2-40B4-BE49-F238E27FC236}">
                <a16:creationId xmlns:a16="http://schemas.microsoft.com/office/drawing/2014/main" id="{4388796C-40E5-8B57-966D-0FC98C04CD99}"/>
              </a:ext>
            </a:extLst>
          </p:cNvPr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50" name="Google Shape;550;p11">
            <a:extLst>
              <a:ext uri="{FF2B5EF4-FFF2-40B4-BE49-F238E27FC236}">
                <a16:creationId xmlns:a16="http://schemas.microsoft.com/office/drawing/2014/main" id="{CC5F123E-EAD6-6543-2A55-EB2272B75C88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39;p11">
            <a:extLst>
              <a:ext uri="{FF2B5EF4-FFF2-40B4-BE49-F238E27FC236}">
                <a16:creationId xmlns:a16="http://schemas.microsoft.com/office/drawing/2014/main" id="{506EF778-BA14-31AF-EC9D-B3FF6D7C7D96}"/>
              </a:ext>
            </a:extLst>
          </p:cNvPr>
          <p:cNvSpPr txBox="1">
            <a:spLocks/>
          </p:cNvSpPr>
          <p:nvPr/>
        </p:nvSpPr>
        <p:spPr>
          <a:xfrm>
            <a:off x="1714500" y="2449282"/>
            <a:ext cx="15430500" cy="685800"/>
          </a:xfrm>
          <a:prstGeom prst="rect">
            <a:avLst/>
          </a:prstGeom>
          <a:noFill/>
          <a:ln w="114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>
              <a:buSzPts val="2250"/>
            </a:pPr>
            <a:r>
              <a:rPr lang="ar-SA" sz="2250" b="1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تعتمد العديد من الحلول المتاحة على مجرد عرض المحتوى التعليمي</a:t>
            </a:r>
            <a:endParaRPr lang="ar-SA" b="1" dirty="0"/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5569E0FB-DC8D-FD59-6D3F-9653BF4278B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65"/>
          <a:stretch>
            <a:fillRect/>
          </a:stretch>
        </p:blipFill>
        <p:spPr>
          <a:xfrm>
            <a:off x="7734923" y="3305175"/>
            <a:ext cx="3007905" cy="5953124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58B74FBB-5456-0969-7F4E-BA6121BA75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85413" y="3305176"/>
            <a:ext cx="3124140" cy="6000748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9882147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35">
          <a:extLst>
            <a:ext uri="{FF2B5EF4-FFF2-40B4-BE49-F238E27FC236}">
              <a16:creationId xmlns:a16="http://schemas.microsoft.com/office/drawing/2014/main" id="{B766FD22-366A-A33D-4886-F52F07DAE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11">
            <a:extLst>
              <a:ext uri="{FF2B5EF4-FFF2-40B4-BE49-F238E27FC236}">
                <a16:creationId xmlns:a16="http://schemas.microsoft.com/office/drawing/2014/main" id="{E5239B8B-7AD7-CEED-0228-97CA901A1D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القيمة المضافة</a:t>
            </a:r>
            <a:endParaRPr dirty="0"/>
          </a:p>
        </p:txBody>
      </p:sp>
      <p:sp>
        <p:nvSpPr>
          <p:cNvPr id="538" name="Google Shape;538;p11">
            <a:extLst>
              <a:ext uri="{FF2B5EF4-FFF2-40B4-BE49-F238E27FC236}">
                <a16:creationId xmlns:a16="http://schemas.microsoft.com/office/drawing/2014/main" id="{5F9054F5-F55F-E834-C275-D75C702A255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714500" y="1557337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000" b="1" dirty="0">
                <a:solidFill>
                  <a:srgbClr val="F2F4FF"/>
                </a:solidFill>
              </a:rPr>
              <a:t>تعلم الصلاة عبر </a:t>
            </a:r>
            <a:r>
              <a:rPr lang="ar-SA" sz="4000" b="1" dirty="0">
                <a:solidFill>
                  <a:srgbClr val="2EF2C2"/>
                </a:solidFill>
              </a:rPr>
              <a:t>صَلِّ معي | </a:t>
            </a:r>
            <a:r>
              <a:rPr lang="en-US" sz="4000" b="1" dirty="0">
                <a:solidFill>
                  <a:srgbClr val="2EF2C2"/>
                </a:solidFill>
              </a:rPr>
              <a:t>Pray With Me</a:t>
            </a:r>
            <a:r>
              <a:rPr lang="ar-SA" sz="4000" b="1" dirty="0">
                <a:solidFill>
                  <a:srgbClr val="F2F4FF"/>
                </a:solidFill>
              </a:rPr>
              <a:t>:</a:t>
            </a:r>
            <a:endParaRPr sz="4000" dirty="0"/>
          </a:p>
        </p:txBody>
      </p:sp>
      <p:sp>
        <p:nvSpPr>
          <p:cNvPr id="540" name="Google Shape;540;p11">
            <a:extLst>
              <a:ext uri="{FF2B5EF4-FFF2-40B4-BE49-F238E27FC236}">
                <a16:creationId xmlns:a16="http://schemas.microsoft.com/office/drawing/2014/main" id="{D0B4D0F1-6EA7-A147-327D-5C6B436B948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14</a:t>
            </a:fld>
            <a:endParaRPr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4B8C45C2-96C0-0C15-7595-DCD0562BAD4D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/>
        </p:blipFill>
        <p:spPr>
          <a:xfrm>
            <a:off x="12268200" y="3305175"/>
            <a:ext cx="3099345" cy="5953123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11">
            <a:extLst>
              <a:ext uri="{FF2B5EF4-FFF2-40B4-BE49-F238E27FC236}">
                <a16:creationId xmlns:a16="http://schemas.microsoft.com/office/drawing/2014/main" id="{BCEE8ED2-64BF-B2B8-30FC-9E2651BB0BE0}"/>
              </a:ext>
            </a:extLst>
          </p:cNvPr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550" name="Google Shape;550;p11">
            <a:extLst>
              <a:ext uri="{FF2B5EF4-FFF2-40B4-BE49-F238E27FC236}">
                <a16:creationId xmlns:a16="http://schemas.microsoft.com/office/drawing/2014/main" id="{3C16324C-5EFF-2A93-1A56-DF133FED1D99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539;p11">
            <a:extLst>
              <a:ext uri="{FF2B5EF4-FFF2-40B4-BE49-F238E27FC236}">
                <a16:creationId xmlns:a16="http://schemas.microsoft.com/office/drawing/2014/main" id="{32EA95D8-E4D9-F2DE-D226-9DFF517B33D3}"/>
              </a:ext>
            </a:extLst>
          </p:cNvPr>
          <p:cNvSpPr txBox="1">
            <a:spLocks/>
          </p:cNvSpPr>
          <p:nvPr/>
        </p:nvSpPr>
        <p:spPr>
          <a:xfrm>
            <a:off x="1714500" y="2368320"/>
            <a:ext cx="15430500" cy="685800"/>
          </a:xfrm>
          <a:prstGeom prst="rect">
            <a:avLst/>
          </a:prstGeom>
          <a:noFill/>
          <a:ln w="114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 rtl="1">
              <a:buSzPts val="2250"/>
            </a:pPr>
            <a:r>
              <a:rPr lang="ar-SA" sz="2250" b="1" dirty="0">
                <a:solidFill>
                  <a:srgbClr val="CBCFE6"/>
                </a:solidFill>
                <a:latin typeface="Readex Pro"/>
                <a:cs typeface="Readex Pro"/>
                <a:sym typeface="Readex Pro"/>
              </a:rPr>
              <a:t>يتجاوز "صَلِّ معي" التلقين، مُوظفًا الذكاء الاصطناعي في تقديم تجربة تعليمية تفاعلية وتوجيهٍ فوري</a:t>
            </a:r>
            <a:endParaRPr lang="ar-SA" b="1" dirty="0"/>
          </a:p>
        </p:txBody>
      </p:sp>
      <p:pic>
        <p:nvPicPr>
          <p:cNvPr id="4" name="Picture Placeholder 14">
            <a:extLst>
              <a:ext uri="{FF2B5EF4-FFF2-40B4-BE49-F238E27FC236}">
                <a16:creationId xmlns:a16="http://schemas.microsoft.com/office/drawing/2014/main" id="{17288385-93B8-D1BB-2E4A-82975480B0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734923" y="3305175"/>
            <a:ext cx="3007905" cy="5953124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" name="Picture Placeholder 14">
            <a:extLst>
              <a:ext uri="{FF2B5EF4-FFF2-40B4-BE49-F238E27FC236}">
                <a16:creationId xmlns:a16="http://schemas.microsoft.com/office/drawing/2014/main" id="{88FE7E00-4D9C-37B6-906B-3B0EE9A44E1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30508" y="3305176"/>
            <a:ext cx="2833950" cy="6000748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3615594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35">
          <a:extLst>
            <a:ext uri="{FF2B5EF4-FFF2-40B4-BE49-F238E27FC236}">
              <a16:creationId xmlns:a16="http://schemas.microsoft.com/office/drawing/2014/main" id="{5CEF13A2-8FA7-2120-5CD4-840F0CFD6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11">
            <a:extLst>
              <a:ext uri="{FF2B5EF4-FFF2-40B4-BE49-F238E27FC236}">
                <a16:creationId xmlns:a16="http://schemas.microsoft.com/office/drawing/2014/main" id="{D8DF5F54-D531-7E52-1E39-31FD5D82777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11">
            <a:extLst>
              <a:ext uri="{FF2B5EF4-FFF2-40B4-BE49-F238E27FC236}">
                <a16:creationId xmlns:a16="http://schemas.microsoft.com/office/drawing/2014/main" id="{9271B2CC-5AC5-2696-B9F9-759105D033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الأثر المتوقع</a:t>
            </a:r>
            <a:endParaRPr/>
          </a:p>
        </p:txBody>
      </p:sp>
      <p:sp>
        <p:nvSpPr>
          <p:cNvPr id="538" name="Google Shape;538;p11">
            <a:extLst>
              <a:ext uri="{FF2B5EF4-FFF2-40B4-BE49-F238E27FC236}">
                <a16:creationId xmlns:a16="http://schemas.microsoft.com/office/drawing/2014/main" id="{FC662436-AFBA-79C7-502F-D0650FE441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46957" y="1928134"/>
            <a:ext cx="17240250" cy="7443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000" b="1" dirty="0">
                <a:solidFill>
                  <a:srgbClr val="F2F4FF"/>
                </a:solidFill>
              </a:rPr>
              <a:t>سدّ الفجوة بين التعلّم النظري والممارسة التطبيقية</a:t>
            </a:r>
            <a:endParaRPr sz="4000" dirty="0"/>
          </a:p>
        </p:txBody>
      </p:sp>
      <p:sp>
        <p:nvSpPr>
          <p:cNvPr id="539" name="Google Shape;539;p11">
            <a:extLst>
              <a:ext uri="{FF2B5EF4-FFF2-40B4-BE49-F238E27FC236}">
                <a16:creationId xmlns:a16="http://schemas.microsoft.com/office/drawing/2014/main" id="{036AE82E-3399-BF68-054B-02F3EAE6E8B7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543050" y="2847975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1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من خلال:</a:t>
            </a:r>
            <a:endParaRPr b="1" dirty="0"/>
          </a:p>
        </p:txBody>
      </p:sp>
      <p:sp>
        <p:nvSpPr>
          <p:cNvPr id="540" name="Google Shape;540;p11">
            <a:extLst>
              <a:ext uri="{FF2B5EF4-FFF2-40B4-BE49-F238E27FC236}">
                <a16:creationId xmlns:a16="http://schemas.microsoft.com/office/drawing/2014/main" id="{ECB6106C-2E6D-174C-16EB-C7EFB357EF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15</a:t>
            </a:fld>
            <a:endParaRPr/>
          </a:p>
        </p:txBody>
      </p:sp>
      <p:sp>
        <p:nvSpPr>
          <p:cNvPr id="541" name="Google Shape;541;p11">
            <a:extLst>
              <a:ext uri="{FF2B5EF4-FFF2-40B4-BE49-F238E27FC236}">
                <a16:creationId xmlns:a16="http://schemas.microsoft.com/office/drawing/2014/main" id="{C9EA6C1B-5C6E-C35A-AA98-50E657B932E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9505800" y="4035827"/>
            <a:ext cx="7334400" cy="94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</a:rPr>
              <a:t>1-تجربة تفاعلية يخوضها المستخدم</a:t>
            </a:r>
          </a:p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</a:rPr>
              <a:t>ذاتيًا، في أي وقت ومكان</a:t>
            </a:r>
            <a:endParaRPr dirty="0"/>
          </a:p>
        </p:txBody>
      </p:sp>
      <p:sp>
        <p:nvSpPr>
          <p:cNvPr id="543" name="Google Shape;543;p11">
            <a:extLst>
              <a:ext uri="{FF2B5EF4-FFF2-40B4-BE49-F238E27FC236}">
                <a16:creationId xmlns:a16="http://schemas.microsoft.com/office/drawing/2014/main" id="{B3BFEBD3-A806-3B3F-644C-BD667876D410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1714500" y="3952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</a:rPr>
              <a:t>2-تغذية راجعة فورية تكشف الأخطاء وتصحح الأداء</a:t>
            </a:r>
            <a:endParaRPr dirty="0"/>
          </a:p>
        </p:txBody>
      </p:sp>
      <p:sp>
        <p:nvSpPr>
          <p:cNvPr id="545" name="Google Shape;545;p11">
            <a:extLst>
              <a:ext uri="{FF2B5EF4-FFF2-40B4-BE49-F238E27FC236}">
                <a16:creationId xmlns:a16="http://schemas.microsoft.com/office/drawing/2014/main" id="{89A62CCB-D79D-2098-3478-A42DCF40D66D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10382250" y="6619874"/>
            <a:ext cx="6458100" cy="9448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3-مؤشر النجاح: ارتفاع نسبة الخطوات المؤدّاة بشكل صحيح عبر المحاولات</a:t>
            </a:r>
            <a:endParaRPr dirty="0"/>
          </a:p>
        </p:txBody>
      </p:sp>
      <p:sp>
        <p:nvSpPr>
          <p:cNvPr id="547" name="Google Shape;547;p11">
            <a:extLst>
              <a:ext uri="{FF2B5EF4-FFF2-40B4-BE49-F238E27FC236}">
                <a16:creationId xmlns:a16="http://schemas.microsoft.com/office/drawing/2014/main" id="{7772A792-744E-2A34-570E-8DA337F1BC89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1714500" y="6619875"/>
            <a:ext cx="6953250" cy="590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50"/>
              <a:buNone/>
            </a:pPr>
            <a:r>
              <a:rPr lang="ar-SA" sz="285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4-رحلة تعلّم تجمع بين صحة الأداء وفهم المعنى</a:t>
            </a:r>
            <a:endParaRPr dirty="0"/>
          </a:p>
        </p:txBody>
      </p:sp>
      <p:sp>
        <p:nvSpPr>
          <p:cNvPr id="549" name="Google Shape;549;p11">
            <a:extLst>
              <a:ext uri="{FF2B5EF4-FFF2-40B4-BE49-F238E27FC236}">
                <a16:creationId xmlns:a16="http://schemas.microsoft.com/office/drawing/2014/main" id="{375B4158-90F3-FF2A-DC5A-15996B0FFAD6}"/>
              </a:ext>
            </a:extLst>
          </p:cNvPr>
          <p:cNvSpPr/>
          <p:nvPr/>
        </p:nvSpPr>
        <p:spPr>
          <a:xfrm>
            <a:off x="7696200" y="9467850"/>
            <a:ext cx="914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350" b="0" dirty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تحدي الذكاء الاصطناعي في خدمة المحتوى الإسلامي</a:t>
            </a:r>
            <a:endParaRPr dirty="0"/>
          </a:p>
        </p:txBody>
      </p:sp>
      <p:pic>
        <p:nvPicPr>
          <p:cNvPr id="550" name="Google Shape;550;p11">
            <a:extLst>
              <a:ext uri="{FF2B5EF4-FFF2-40B4-BE49-F238E27FC236}">
                <a16:creationId xmlns:a16="http://schemas.microsoft.com/office/drawing/2014/main" id="{478950FC-15C6-A8D3-770E-53C6413D3C5F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1490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>
          <a:extLst>
            <a:ext uri="{FF2B5EF4-FFF2-40B4-BE49-F238E27FC236}">
              <a16:creationId xmlns:a16="http://schemas.microsoft.com/office/drawing/2014/main" id="{888C4F17-82C2-B178-F836-9D07DC70E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>
            <a:extLst>
              <a:ext uri="{FF2B5EF4-FFF2-40B4-BE49-F238E27FC236}">
                <a16:creationId xmlns:a16="http://schemas.microsoft.com/office/drawing/2014/main" id="{E9674000-27D0-4D45-4A38-566B485370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>
            <a:extLst>
              <a:ext uri="{FF2B5EF4-FFF2-40B4-BE49-F238E27FC236}">
                <a16:creationId xmlns:a16="http://schemas.microsoft.com/office/drawing/2014/main" id="{238664EF-EC92-9A38-16AE-76D4E71C4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 dirty="0"/>
          </a:p>
        </p:txBody>
      </p:sp>
      <p:sp>
        <p:nvSpPr>
          <p:cNvPr id="528" name="Google Shape;528;p10">
            <a:extLst>
              <a:ext uri="{FF2B5EF4-FFF2-40B4-BE49-F238E27FC236}">
                <a16:creationId xmlns:a16="http://schemas.microsoft.com/office/drawing/2014/main" id="{3474B6A6-8641-D816-0FDD-6B40D7B6D1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2850"/>
            </a:pPr>
            <a:r>
              <a:rPr lang="ar-SA" sz="6000" b="1" dirty="0">
                <a:solidFill>
                  <a:srgbClr val="F2F4FF"/>
                </a:solidFill>
              </a:rPr>
              <a:t>التقنيات المستخدمة</a:t>
            </a:r>
            <a:endParaRPr lang="ar-SA" sz="6000" dirty="0"/>
          </a:p>
        </p:txBody>
      </p:sp>
      <p:sp>
        <p:nvSpPr>
          <p:cNvPr id="529" name="Google Shape;529;p10">
            <a:extLst>
              <a:ext uri="{FF2B5EF4-FFF2-40B4-BE49-F238E27FC236}">
                <a16:creationId xmlns:a16="http://schemas.microsoft.com/office/drawing/2014/main" id="{D8C6C864-8FBC-3516-C92D-7B3B5A1A7E1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97294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250"/>
            </a:pPr>
            <a:r>
              <a:rPr lang="ar-SA" sz="320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وسائلُ تخدمُ الحق</a:t>
            </a:r>
            <a:endParaRPr lang="ar-SA" sz="3200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530" name="Google Shape;530;p10">
            <a:extLst>
              <a:ext uri="{FF2B5EF4-FFF2-40B4-BE49-F238E27FC236}">
                <a16:creationId xmlns:a16="http://schemas.microsoft.com/office/drawing/2014/main" id="{68CFB193-96FF-A802-6621-8C8B1A84860E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4663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10179E94-9903-2192-57DB-B54B9878D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27">
            <a:extLst>
              <a:ext uri="{FF2B5EF4-FFF2-40B4-BE49-F238E27FC236}">
                <a16:creationId xmlns:a16="http://schemas.microsoft.com/office/drawing/2014/main" id="{EA7A37B0-23EE-5CEE-B359-35983B2132A4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>
            <a:extLst>
              <a:ext uri="{FF2B5EF4-FFF2-40B4-BE49-F238E27FC236}">
                <a16:creationId xmlns:a16="http://schemas.microsoft.com/office/drawing/2014/main" id="{DC3242DD-9238-0FFD-3C5C-112EC42EC7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 المستخدمة</a:t>
            </a:r>
            <a:endParaRPr lang="ar-SA" noProof="1"/>
          </a:p>
        </p:txBody>
      </p:sp>
      <p:sp>
        <p:nvSpPr>
          <p:cNvPr id="861" name="Google Shape;861;p27">
            <a:extLst>
              <a:ext uri="{FF2B5EF4-FFF2-40B4-BE49-F238E27FC236}">
                <a16:creationId xmlns:a16="http://schemas.microsoft.com/office/drawing/2014/main" id="{BB7AEFAD-346F-21EB-BFDD-9B887F07C4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1800"/>
            </a:pPr>
            <a:r>
              <a:rPr lang="ar-SA" sz="4800" b="1" noProof="1">
                <a:solidFill>
                  <a:srgbClr val="F2F4FF"/>
                </a:solidFill>
              </a:rPr>
              <a:t>كيف يعمل </a:t>
            </a:r>
            <a:r>
              <a:rPr lang="ar-SA" sz="4800" b="1" noProof="1">
                <a:solidFill>
                  <a:srgbClr val="2FEEC3"/>
                </a:solidFill>
              </a:rPr>
              <a:t>صَلِّ معي | Pray With Me</a:t>
            </a:r>
            <a:r>
              <a:rPr lang="ar-SA" sz="4800" b="1" noProof="1">
                <a:solidFill>
                  <a:srgbClr val="F2F4FF"/>
                </a:solidFill>
              </a:rPr>
              <a:t>؟ </a:t>
            </a:r>
            <a:endParaRPr lang="ar-SA" sz="4800" noProof="1"/>
          </a:p>
        </p:txBody>
      </p:sp>
      <p:sp>
        <p:nvSpPr>
          <p:cNvPr id="862" name="Google Shape;862;p27">
            <a:extLst>
              <a:ext uri="{FF2B5EF4-FFF2-40B4-BE49-F238E27FC236}">
                <a16:creationId xmlns:a16="http://schemas.microsoft.com/office/drawing/2014/main" id="{F1C82FFB-FA12-E468-CD18-25E8FC492EA3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u="sng" noProof="1">
                <a:solidFill>
                  <a:srgbClr val="CBCFE6"/>
                </a:solidFill>
              </a:rPr>
              <a:t>كل شيء داخل جهاز المستخدم:</a:t>
            </a:r>
            <a:endParaRPr lang="ar-SA" u="sng" noProof="1"/>
          </a:p>
        </p:txBody>
      </p:sp>
      <p:sp>
        <p:nvSpPr>
          <p:cNvPr id="863" name="Google Shape;863;p27">
            <a:extLst>
              <a:ext uri="{FF2B5EF4-FFF2-40B4-BE49-F238E27FC236}">
                <a16:creationId xmlns:a16="http://schemas.microsoft.com/office/drawing/2014/main" id="{1FA17B8F-38AA-4AD4-A00A-6B5243CF02E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 noProof="1" dirty="0" smtClean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17</a:t>
            </a:fld>
            <a:endParaRPr lang="ar-SA" noProof="1"/>
          </a:p>
        </p:txBody>
      </p:sp>
      <p:pic>
        <p:nvPicPr>
          <p:cNvPr id="864" name="Google Shape;864;p27">
            <a:extLst>
              <a:ext uri="{FF2B5EF4-FFF2-40B4-BE49-F238E27FC236}">
                <a16:creationId xmlns:a16="http://schemas.microsoft.com/office/drawing/2014/main" id="{856EB980-734D-0EA5-4781-147FCD802C0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96825" y="3917459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27">
            <a:extLst>
              <a:ext uri="{FF2B5EF4-FFF2-40B4-BE49-F238E27FC236}">
                <a16:creationId xmlns:a16="http://schemas.microsoft.com/office/drawing/2014/main" id="{1E8C731F-6D42-E52B-9777-BE5F32E4F89C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1649000" y="5279609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تحليل التلاوة</a:t>
            </a:r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</a:rPr>
              <a:t>(التعرف على الكلام)</a:t>
            </a:r>
            <a:endParaRPr lang="ar-SA" noProof="1"/>
          </a:p>
        </p:txBody>
      </p:sp>
      <p:sp>
        <p:nvSpPr>
          <p:cNvPr id="866" name="Google Shape;866;p27">
            <a:extLst>
              <a:ext uri="{FF2B5EF4-FFF2-40B4-BE49-F238E27FC236}">
                <a16:creationId xmlns:a16="http://schemas.microsoft.com/office/drawing/2014/main" id="{FB04E426-982A-EE61-B79E-1F4ECA4E91D3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0749641" y="6333027"/>
            <a:ext cx="5513615" cy="285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6989CD"/>
                </a:solidFill>
              </a:rPr>
              <a:t>• نموذج Whisper</a:t>
            </a:r>
            <a:r>
              <a:rPr lang="ar-SA" sz="2250" noProof="1">
                <a:solidFill>
                  <a:srgbClr val="CBCFE6"/>
                </a:solidFill>
              </a:rPr>
              <a:t> مضبوط على تلاوة القرآن </a:t>
            </a:r>
          </a:p>
          <a:p>
            <a:pPr marL="0" lvl="0" indent="0" algn="ctr">
              <a:buSzPts val="2250"/>
            </a:pPr>
            <a:r>
              <a:rPr lang="ar-SA" sz="2250" noProof="1">
                <a:solidFill>
                  <a:srgbClr val="CBCFE6"/>
                </a:solidFill>
              </a:rPr>
              <a:t>(whisper-base-ar-quran-ONNX) </a:t>
            </a:r>
          </a:p>
          <a:p>
            <a:pPr marL="0" lvl="0" indent="0" algn="ctr">
              <a:buSzPts val="2250"/>
            </a:pPr>
            <a:r>
              <a:rPr lang="ar-SA" sz="2250" noProof="1">
                <a:solidFill>
                  <a:srgbClr val="CBCFE6"/>
                </a:solidFill>
              </a:rPr>
              <a:t>يحوّل التلاوة إلى نص.</a:t>
            </a:r>
            <a:br>
              <a:rPr lang="ar-SA" sz="2250" noProof="1">
                <a:solidFill>
                  <a:srgbClr val="CBCFE6"/>
                </a:solidFill>
              </a:rPr>
            </a:br>
            <a:r>
              <a:rPr lang="ar-SA" sz="2250" noProof="1">
                <a:solidFill>
                  <a:srgbClr val="6989CD"/>
                </a:solidFill>
              </a:rPr>
              <a:t>• خوارزمية مقارنة </a:t>
            </a:r>
            <a:r>
              <a:rPr lang="ar-SA" sz="2250" noProof="1">
                <a:solidFill>
                  <a:srgbClr val="CBCFE6"/>
                </a:solidFill>
              </a:rPr>
              <a:t>تطابق النص مع نص الآية المرجعي: الكلمات الناقصة، الترتيب، الاكتمال.</a:t>
            </a:r>
            <a:br>
              <a:rPr lang="ar-SA" sz="2250" noProof="1">
                <a:solidFill>
                  <a:srgbClr val="CBCFE6"/>
                </a:solidFill>
              </a:rPr>
            </a:br>
            <a:r>
              <a:rPr lang="ar-SA" sz="2250" noProof="1">
                <a:solidFill>
                  <a:srgbClr val="6989CD"/>
                </a:solidFill>
              </a:rPr>
              <a:t>• الفحص آية آية</a:t>
            </a:r>
            <a:r>
              <a:rPr lang="ar-SA" sz="2250" noProof="1">
                <a:solidFill>
                  <a:srgbClr val="CBCFE6"/>
                </a:solidFill>
              </a:rPr>
              <a:t>، وإن تعذّر يتحول التطبيق تلقائيًا إلى «استمع وردّد».</a:t>
            </a:r>
          </a:p>
        </p:txBody>
      </p:sp>
      <p:sp>
        <p:nvSpPr>
          <p:cNvPr id="868" name="Google Shape;868;p27">
            <a:extLst>
              <a:ext uri="{FF2B5EF4-FFF2-40B4-BE49-F238E27FC236}">
                <a16:creationId xmlns:a16="http://schemas.microsoft.com/office/drawing/2014/main" id="{B2D57E0D-807C-1881-2591-B6BE48D6003F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828976" y="5279609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700"/>
            </a:pPr>
            <a:r>
              <a:rPr lang="ar-SA" sz="2700" b="1" noProof="1">
                <a:solidFill>
                  <a:srgbClr val="F2F4FF"/>
                </a:solidFill>
              </a:rPr>
              <a:t>تحليل الوضعية</a:t>
            </a:r>
          </a:p>
          <a:p>
            <a:pPr marL="0" lvl="0" indent="0" algn="ctr">
              <a:buSzPts val="2700"/>
            </a:pPr>
            <a:r>
              <a:rPr lang="ar-SA" sz="2700" b="1" noProof="1">
                <a:solidFill>
                  <a:srgbClr val="F2F4FF"/>
                </a:solidFill>
              </a:rPr>
              <a:t>(الرؤية الحاسوبية)</a:t>
            </a:r>
            <a:r>
              <a:rPr lang="ar-SA" sz="2800" noProof="1"/>
              <a:t>)</a:t>
            </a:r>
            <a:endParaRPr lang="ar-SA" noProof="1"/>
          </a:p>
        </p:txBody>
      </p:sp>
      <p:pic>
        <p:nvPicPr>
          <p:cNvPr id="11" name="Google Shape;873;p27">
            <a:extLst>
              <a:ext uri="{FF2B5EF4-FFF2-40B4-BE49-F238E27FC236}">
                <a16:creationId xmlns:a16="http://schemas.microsoft.com/office/drawing/2014/main" id="{24FAEFF8-57C1-29C3-27B3-C28E75D7143E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6801" y="3850859"/>
            <a:ext cx="1428750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866;p27">
            <a:extLst>
              <a:ext uri="{FF2B5EF4-FFF2-40B4-BE49-F238E27FC236}">
                <a16:creationId xmlns:a16="http://schemas.microsoft.com/office/drawing/2014/main" id="{3100E412-A87F-82B1-4DD0-C9E923BA4280}"/>
              </a:ext>
            </a:extLst>
          </p:cNvPr>
          <p:cNvSpPr txBox="1">
            <a:spLocks/>
          </p:cNvSpPr>
          <p:nvPr/>
        </p:nvSpPr>
        <p:spPr>
          <a:xfrm>
            <a:off x="2834368" y="6333027"/>
            <a:ext cx="5513615" cy="2851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 algn="ctr">
              <a:buSzPts val="2250"/>
            </a:pPr>
            <a:r>
              <a:rPr lang="ar-SA" sz="2250" noProof="1">
                <a:solidFill>
                  <a:srgbClr val="2FEEC3"/>
                </a:solidFill>
              </a:rPr>
              <a:t>• نموذج MediaPipe Pose Landmarker</a:t>
            </a:r>
            <a:r>
              <a:rPr lang="ar-SA" sz="2250" noProof="1">
                <a:solidFill>
                  <a:srgbClr val="CBCFE6"/>
                </a:solidFill>
              </a:rPr>
              <a:t> يستخرج ٣٣ نقطة من جسم المستخدم عبر الكاميرا.</a:t>
            </a:r>
            <a:br>
              <a:rPr lang="ar-SA" sz="2250" noProof="1">
                <a:solidFill>
                  <a:srgbClr val="CBCFE6"/>
                </a:solidFill>
              </a:rPr>
            </a:br>
            <a:r>
              <a:rPr lang="ar-SA" sz="2250" noProof="1">
                <a:solidFill>
                  <a:srgbClr val="2FEEC3"/>
                </a:solidFill>
              </a:rPr>
              <a:t>• قواعد هندسية</a:t>
            </a:r>
            <a:r>
              <a:rPr lang="ar-SA" sz="2250" noProof="1">
                <a:solidFill>
                  <a:srgbClr val="CBCFE6"/>
                </a:solidFill>
              </a:rPr>
              <a:t> نحسب بها ميلان الظهر وزاوية الركبة ونقارنها بحدود لكل وضعية (القيام، الركوع، السجود).</a:t>
            </a:r>
            <a:br>
              <a:rPr lang="ar-SA" sz="2250" noProof="1">
                <a:solidFill>
                  <a:srgbClr val="CBCFE6"/>
                </a:solidFill>
              </a:rPr>
            </a:br>
            <a:r>
              <a:rPr lang="ar-SA" sz="2250" noProof="1">
                <a:solidFill>
                  <a:srgbClr val="2FEEC3"/>
                </a:solidFill>
              </a:rPr>
              <a:t>• يعطي تغذية راجعة </a:t>
            </a:r>
            <a:r>
              <a:rPr lang="ar-SA" sz="2250" noProof="1">
                <a:solidFill>
                  <a:srgbClr val="CBCFE6"/>
                </a:solidFill>
              </a:rPr>
              <a:t>فورية بلغة بسيطة</a:t>
            </a:r>
            <a:r>
              <a:rPr lang="ar-SA" sz="2400" noProof="1"/>
              <a:t>.</a:t>
            </a:r>
            <a:endParaRPr lang="ar-SA" sz="2250" noProof="1">
              <a:solidFill>
                <a:srgbClr val="CBCF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78320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7">
          <a:extLst>
            <a:ext uri="{FF2B5EF4-FFF2-40B4-BE49-F238E27FC236}">
              <a16:creationId xmlns:a16="http://schemas.microsoft.com/office/drawing/2014/main" id="{39791329-C9B1-9DCE-1AC7-CF647FB24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9" name="Google Shape;859;p27">
            <a:extLst>
              <a:ext uri="{FF2B5EF4-FFF2-40B4-BE49-F238E27FC236}">
                <a16:creationId xmlns:a16="http://schemas.microsoft.com/office/drawing/2014/main" id="{F7C20F65-76E9-2235-EDD0-7EDFA54EA584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27">
            <a:extLst>
              <a:ext uri="{FF2B5EF4-FFF2-40B4-BE49-F238E27FC236}">
                <a16:creationId xmlns:a16="http://schemas.microsoft.com/office/drawing/2014/main" id="{4146C63A-C751-4B58-E79C-826C90D309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التقنيات المستخدمة</a:t>
            </a:r>
            <a:endParaRPr lang="ar-SA" noProof="1"/>
          </a:p>
        </p:txBody>
      </p:sp>
      <p:sp>
        <p:nvSpPr>
          <p:cNvPr id="861" name="Google Shape;861;p27">
            <a:extLst>
              <a:ext uri="{FF2B5EF4-FFF2-40B4-BE49-F238E27FC236}">
                <a16:creationId xmlns:a16="http://schemas.microsoft.com/office/drawing/2014/main" id="{08F98996-F471-4487-6D41-050C2D84B3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1800"/>
            </a:pPr>
            <a:r>
              <a:rPr lang="ar-SA" sz="4800" b="1" noProof="1">
                <a:solidFill>
                  <a:srgbClr val="F2F4FF"/>
                </a:solidFill>
              </a:rPr>
              <a:t>كيف يعمل </a:t>
            </a:r>
            <a:r>
              <a:rPr lang="ar-SA" sz="4800" b="1" noProof="1">
                <a:solidFill>
                  <a:srgbClr val="2FEEC3"/>
                </a:solidFill>
              </a:rPr>
              <a:t>صَلِّ معي | Pray With Me</a:t>
            </a:r>
            <a:r>
              <a:rPr lang="ar-SA" sz="4800" b="1" noProof="1">
                <a:solidFill>
                  <a:srgbClr val="F2F4FF"/>
                </a:solidFill>
              </a:rPr>
              <a:t>؟ </a:t>
            </a:r>
            <a:endParaRPr lang="ar-SA" sz="4800" noProof="1"/>
          </a:p>
        </p:txBody>
      </p:sp>
      <p:sp>
        <p:nvSpPr>
          <p:cNvPr id="862" name="Google Shape;862;p27">
            <a:extLst>
              <a:ext uri="{FF2B5EF4-FFF2-40B4-BE49-F238E27FC236}">
                <a16:creationId xmlns:a16="http://schemas.microsoft.com/office/drawing/2014/main" id="{40C31A1C-E6CC-9D3B-590B-B682E397FE76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u="sng" noProof="1">
                <a:solidFill>
                  <a:srgbClr val="CBCFE6"/>
                </a:solidFill>
              </a:rPr>
              <a:t>كل شيء داخل جهاز المستخدم:</a:t>
            </a:r>
            <a:endParaRPr lang="ar-SA" u="sng" noProof="1"/>
          </a:p>
        </p:txBody>
      </p:sp>
      <p:sp>
        <p:nvSpPr>
          <p:cNvPr id="863" name="Google Shape;863;p27">
            <a:extLst>
              <a:ext uri="{FF2B5EF4-FFF2-40B4-BE49-F238E27FC236}">
                <a16:creationId xmlns:a16="http://schemas.microsoft.com/office/drawing/2014/main" id="{B688F095-E5A4-28B5-6769-CCC38A88A5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 noProof="1" dirty="0" smtClean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18</a:t>
            </a:fld>
            <a:endParaRPr lang="ar-SA" noProof="1"/>
          </a:p>
        </p:txBody>
      </p:sp>
      <p:sp>
        <p:nvSpPr>
          <p:cNvPr id="865" name="Google Shape;865;p27">
            <a:extLst>
              <a:ext uri="{FF2B5EF4-FFF2-40B4-BE49-F238E27FC236}">
                <a16:creationId xmlns:a16="http://schemas.microsoft.com/office/drawing/2014/main" id="{47988926-1642-D7DD-994A-703813CA96D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1649000" y="5285089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التشغيل </a:t>
            </a:r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والخصوصية</a:t>
            </a:r>
            <a:endParaRPr lang="ar-SA" noProof="1"/>
          </a:p>
        </p:txBody>
      </p:sp>
      <p:sp>
        <p:nvSpPr>
          <p:cNvPr id="866" name="Google Shape;866;p27">
            <a:extLst>
              <a:ext uri="{FF2B5EF4-FFF2-40B4-BE49-F238E27FC236}">
                <a16:creationId xmlns:a16="http://schemas.microsoft.com/office/drawing/2014/main" id="{B5FBA874-E14D-3F5E-3EF5-880C1EC03714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0363200" y="6333027"/>
            <a:ext cx="5900056" cy="1847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B9AEFF"/>
                </a:solidFill>
              </a:rPr>
              <a:t>•  يعمل في المتصفح عبر</a:t>
            </a:r>
            <a:r>
              <a:rPr lang="ar-SA" sz="2250" noProof="1">
                <a:solidFill>
                  <a:srgbClr val="CBCFE6"/>
                </a:solidFill>
              </a:rPr>
              <a:t>Transformers.js وONNX Runtime Web، مع تسريع WebGPU إذا دعمه الجهاز وWASM بديلًا.</a:t>
            </a:r>
            <a:br>
              <a:rPr lang="ar-SA" sz="2250" noProof="1">
                <a:solidFill>
                  <a:srgbClr val="CBCFE6"/>
                </a:solidFill>
              </a:rPr>
            </a:br>
            <a:r>
              <a:rPr lang="ar-SA" sz="2250" noProof="1">
                <a:solidFill>
                  <a:srgbClr val="CBCFE6"/>
                </a:solidFill>
              </a:rPr>
              <a:t> </a:t>
            </a:r>
            <a:r>
              <a:rPr lang="ar-SA" sz="2250" noProof="1">
                <a:solidFill>
                  <a:srgbClr val="B9AEFF"/>
                </a:solidFill>
              </a:rPr>
              <a:t>• الصورة والصوت لا يغادران الجهاز</a:t>
            </a:r>
            <a:r>
              <a:rPr lang="ar-SA" sz="2250" noProof="1">
                <a:solidFill>
                  <a:srgbClr val="CBCFE6"/>
                </a:solidFill>
              </a:rPr>
              <a:t>، بلا خادم ولا حساب.</a:t>
            </a:r>
          </a:p>
        </p:txBody>
      </p:sp>
      <p:sp>
        <p:nvSpPr>
          <p:cNvPr id="868" name="Google Shape;868;p27">
            <a:extLst>
              <a:ext uri="{FF2B5EF4-FFF2-40B4-BE49-F238E27FC236}">
                <a16:creationId xmlns:a16="http://schemas.microsoft.com/office/drawing/2014/main" id="{02922C97-938F-E032-26FA-11490D4D6391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3828974" y="5309470"/>
            <a:ext cx="35244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700"/>
            </a:pPr>
            <a:r>
              <a:rPr lang="ar-SA" sz="2700" b="1" noProof="1">
                <a:solidFill>
                  <a:srgbClr val="F2F4FF"/>
                </a:solidFill>
              </a:rPr>
              <a:t>المحتوى</a:t>
            </a:r>
          </a:p>
          <a:p>
            <a:pPr marL="0" lvl="0" indent="0" algn="ctr">
              <a:buSzPts val="2700"/>
            </a:pPr>
            <a:r>
              <a:rPr lang="ar-SA" sz="2700" b="1" noProof="1">
                <a:solidFill>
                  <a:srgbClr val="F2F4FF"/>
                </a:solidFill>
              </a:rPr>
              <a:t>المعتمد</a:t>
            </a:r>
            <a:endParaRPr lang="ar-SA" noProof="1"/>
          </a:p>
        </p:txBody>
      </p:sp>
      <p:sp>
        <p:nvSpPr>
          <p:cNvPr id="12" name="Google Shape;866;p27">
            <a:extLst>
              <a:ext uri="{FF2B5EF4-FFF2-40B4-BE49-F238E27FC236}">
                <a16:creationId xmlns:a16="http://schemas.microsoft.com/office/drawing/2014/main" id="{2A7FD9F1-6205-891B-ADAE-C4A4A87EE762}"/>
              </a:ext>
            </a:extLst>
          </p:cNvPr>
          <p:cNvSpPr txBox="1">
            <a:spLocks/>
          </p:cNvSpPr>
          <p:nvPr/>
        </p:nvSpPr>
        <p:spPr>
          <a:xfrm>
            <a:off x="2649990" y="6218859"/>
            <a:ext cx="5882368" cy="1194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 algn="ctr">
              <a:buSzPts val="2250"/>
            </a:pPr>
            <a:r>
              <a:rPr lang="ar-SA" sz="2250" dirty="0">
                <a:solidFill>
                  <a:srgbClr val="3FB0D6"/>
                </a:solidFill>
              </a:rPr>
              <a:t>•  نصوص وأذكار مراجَعة </a:t>
            </a:r>
            <a:r>
              <a:rPr lang="ar-SA" sz="2250" dirty="0">
                <a:solidFill>
                  <a:srgbClr val="CBCFE6"/>
                </a:solidFill>
              </a:rPr>
              <a:t>ومربوطة بمصادرها. الذكاء الاصطناعي يحلل الأداء ولا يُصدر حكمًا شرعيًا ولا يقيّم التجويد.</a:t>
            </a:r>
            <a:br>
              <a:rPr lang="ar-SA" sz="2250" dirty="0">
                <a:solidFill>
                  <a:srgbClr val="CBCFE6"/>
                </a:solidFill>
              </a:rPr>
            </a:br>
            <a:endParaRPr lang="ar-SA" sz="2250" noProof="1">
              <a:solidFill>
                <a:srgbClr val="CBCFE6"/>
              </a:solidFill>
            </a:endParaRPr>
          </a:p>
        </p:txBody>
      </p:sp>
      <p:pic>
        <p:nvPicPr>
          <p:cNvPr id="14" name="Google Shape;867;p27">
            <a:extLst>
              <a:ext uri="{FF2B5EF4-FFF2-40B4-BE49-F238E27FC236}">
                <a16:creationId xmlns:a16="http://schemas.microsoft.com/office/drawing/2014/main" id="{5492CCD3-9613-D552-DA51-E2C1A8D6885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96825" y="3850859"/>
            <a:ext cx="1428750" cy="1428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870;p27">
            <a:extLst>
              <a:ext uri="{FF2B5EF4-FFF2-40B4-BE49-F238E27FC236}">
                <a16:creationId xmlns:a16="http://schemas.microsoft.com/office/drawing/2014/main" id="{1D14A73C-BEB0-A69E-E38E-1B2CE67E234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876799" y="3978935"/>
            <a:ext cx="1428750" cy="1428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24896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EDBAAFFF-77E2-2128-B330-417E72DA2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9">
            <a:extLst>
              <a:ext uri="{FF2B5EF4-FFF2-40B4-BE49-F238E27FC236}">
                <a16:creationId xmlns:a16="http://schemas.microsoft.com/office/drawing/2014/main" id="{86596A90-965F-C59F-AE69-7CEBFA31F46B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>
            <a:extLst>
              <a:ext uri="{FF2B5EF4-FFF2-40B4-BE49-F238E27FC236}">
                <a16:creationId xmlns:a16="http://schemas.microsoft.com/office/drawing/2014/main" id="{E85582F1-53A9-0FD5-C676-1EE0CCA786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800"/>
            </a:pPr>
            <a:r>
              <a:rPr lang="ar-SA" sz="1800" noProof="1">
                <a:solidFill>
                  <a:srgbClr val="2EF2C2"/>
                </a:solidFill>
              </a:rPr>
              <a:t>التقنيات المستخدمة</a:t>
            </a:r>
            <a:endParaRPr lang="ar-SA" sz="1800" noProof="1"/>
          </a:p>
        </p:txBody>
      </p:sp>
      <p:sp>
        <p:nvSpPr>
          <p:cNvPr id="501" name="Google Shape;501;p9">
            <a:extLst>
              <a:ext uri="{FF2B5EF4-FFF2-40B4-BE49-F238E27FC236}">
                <a16:creationId xmlns:a16="http://schemas.microsoft.com/office/drawing/2014/main" id="{5758499F-5CA4-67FF-FE61-4470010778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2250"/>
            </a:pPr>
            <a:r>
              <a:rPr lang="ar-SA" sz="4800" noProof="1">
                <a:solidFill>
                  <a:srgbClr val="CBCFE6"/>
                </a:solidFill>
              </a:rPr>
              <a:t>الأدوات التي بُني بها المشروع:</a:t>
            </a:r>
            <a:endParaRPr lang="ar-SA" sz="4800" noProof="1"/>
          </a:p>
        </p:txBody>
      </p:sp>
      <p:sp>
        <p:nvSpPr>
          <p:cNvPr id="502" name="Google Shape;502;p9">
            <a:extLst>
              <a:ext uri="{FF2B5EF4-FFF2-40B4-BE49-F238E27FC236}">
                <a16:creationId xmlns:a16="http://schemas.microsoft.com/office/drawing/2014/main" id="{8C883BE9-C68C-BD4D-6761-E03B6E5387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 noProof="1" smtClean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19</a:t>
            </a:fld>
            <a:endParaRPr lang="ar-SA" noProof="1"/>
          </a:p>
        </p:txBody>
      </p:sp>
      <p:sp>
        <p:nvSpPr>
          <p:cNvPr id="503" name="Google Shape;503;p9">
            <a:extLst>
              <a:ext uri="{FF2B5EF4-FFF2-40B4-BE49-F238E27FC236}">
                <a16:creationId xmlns:a16="http://schemas.microsoft.com/office/drawing/2014/main" id="{827CD380-9D6B-ABF5-2C64-1058FC110BC1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1298633" y="4167170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 lang="ar-SA" noProof="1"/>
          </a:p>
        </p:txBody>
      </p:sp>
      <p:sp>
        <p:nvSpPr>
          <p:cNvPr id="504" name="Google Shape;504;p9">
            <a:extLst>
              <a:ext uri="{FF2B5EF4-FFF2-40B4-BE49-F238E27FC236}">
                <a16:creationId xmlns:a16="http://schemas.microsoft.com/office/drawing/2014/main" id="{E348BDEE-8D62-40E1-298A-683C26D233C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1363250" y="490714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Vite</a:t>
            </a:r>
            <a:endParaRPr lang="ar-SA" noProof="1"/>
          </a:p>
        </p:txBody>
      </p:sp>
      <p:sp>
        <p:nvSpPr>
          <p:cNvPr id="506" name="Google Shape;506;p9">
            <a:extLst>
              <a:ext uri="{FF2B5EF4-FFF2-40B4-BE49-F238E27FC236}">
                <a16:creationId xmlns:a16="http://schemas.microsoft.com/office/drawing/2014/main" id="{B21D2495-A094-03FB-4E9E-6684B2BC2FA2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7354736" y="4020862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 lang="ar-SA" noProof="1"/>
          </a:p>
        </p:txBody>
      </p:sp>
      <p:sp>
        <p:nvSpPr>
          <p:cNvPr id="507" name="Google Shape;507;p9">
            <a:extLst>
              <a:ext uri="{FF2B5EF4-FFF2-40B4-BE49-F238E27FC236}">
                <a16:creationId xmlns:a16="http://schemas.microsoft.com/office/drawing/2014/main" id="{18094F26-2E17-785F-8E13-26CD2B6EAD35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8108345" y="489325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JavaScript</a:t>
            </a:r>
            <a:endParaRPr lang="ar-SA" noProof="1"/>
          </a:p>
        </p:txBody>
      </p:sp>
      <p:sp>
        <p:nvSpPr>
          <p:cNvPr id="509" name="Google Shape;509;p9">
            <a:extLst>
              <a:ext uri="{FF2B5EF4-FFF2-40B4-BE49-F238E27FC236}">
                <a16:creationId xmlns:a16="http://schemas.microsoft.com/office/drawing/2014/main" id="{6D845AB3-844F-4469-0ADA-3CB762F2767D}"/>
              </a:ext>
            </a:extLst>
          </p:cNvPr>
          <p:cNvSpPr txBox="1">
            <a:spLocks noGrp="1"/>
          </p:cNvSpPr>
          <p:nvPr>
            <p:ph type="body" idx="8"/>
          </p:nvPr>
        </p:nvSpPr>
        <p:spPr>
          <a:xfrm>
            <a:off x="3321579" y="3965752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 lang="ar-SA" noProof="1"/>
          </a:p>
        </p:txBody>
      </p:sp>
      <p:sp>
        <p:nvSpPr>
          <p:cNvPr id="510" name="Google Shape;510;p9">
            <a:extLst>
              <a:ext uri="{FF2B5EF4-FFF2-40B4-BE49-F238E27FC236}">
                <a16:creationId xmlns:a16="http://schemas.microsoft.com/office/drawing/2014/main" id="{59C19FC3-6EEB-FF18-6311-654A5AEBDC23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6422572" y="4713111"/>
            <a:ext cx="2026179" cy="905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Cloudflare </a:t>
            </a:r>
          </a:p>
          <a:p>
            <a:pPr marL="0" lvl="0" indent="0" algn="ctr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Workers</a:t>
            </a:r>
            <a:endParaRPr lang="ar-SA" noProof="1"/>
          </a:p>
        </p:txBody>
      </p:sp>
      <p:sp>
        <p:nvSpPr>
          <p:cNvPr id="512" name="Google Shape;512;p9">
            <a:extLst>
              <a:ext uri="{FF2B5EF4-FFF2-40B4-BE49-F238E27FC236}">
                <a16:creationId xmlns:a16="http://schemas.microsoft.com/office/drawing/2014/main" id="{7417F8A7-4984-D976-1018-E43465667C82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11363250" y="652350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 lang="ar-SA" noProof="1"/>
          </a:p>
        </p:txBody>
      </p:sp>
      <p:sp>
        <p:nvSpPr>
          <p:cNvPr id="513" name="Google Shape;513;p9">
            <a:extLst>
              <a:ext uri="{FF2B5EF4-FFF2-40B4-BE49-F238E27FC236}">
                <a16:creationId xmlns:a16="http://schemas.microsoft.com/office/drawing/2014/main" id="{EBAA8138-92CC-501B-C9E2-F1800EEE21D6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-505049" y="4907140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GitHub</a:t>
            </a:r>
            <a:endParaRPr lang="ar-SA" noProof="1"/>
          </a:p>
        </p:txBody>
      </p:sp>
      <p:sp>
        <p:nvSpPr>
          <p:cNvPr id="515" name="Google Shape;515;p9">
            <a:extLst>
              <a:ext uri="{FF2B5EF4-FFF2-40B4-BE49-F238E27FC236}">
                <a16:creationId xmlns:a16="http://schemas.microsoft.com/office/drawing/2014/main" id="{07934EE1-FDE8-322A-0AB1-0637D2D1AED9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363468" y="6431121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</a:t>
            </a:r>
            <a:r>
              <a:rPr lang="ar-SA" sz="3900" b="1" noProof="1">
                <a:solidFill>
                  <a:srgbClr val="2EF2C2"/>
                </a:solidFill>
              </a:rPr>
              <a:t>6</a:t>
            </a:r>
            <a:endParaRPr lang="ar-SA" noProof="1"/>
          </a:p>
        </p:txBody>
      </p:sp>
      <p:sp>
        <p:nvSpPr>
          <p:cNvPr id="516" name="Google Shape;516;p9">
            <a:extLst>
              <a:ext uri="{FF2B5EF4-FFF2-40B4-BE49-F238E27FC236}">
                <a16:creationId xmlns:a16="http://schemas.microsoft.com/office/drawing/2014/main" id="{8F41B8F2-91C8-6685-3CE6-157727E49C76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11840368" y="7279546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ElevenLabs</a:t>
            </a:r>
            <a:endParaRPr lang="ar-SA" noProof="1"/>
          </a:p>
        </p:txBody>
      </p:sp>
      <p:sp>
        <p:nvSpPr>
          <p:cNvPr id="518" name="Google Shape;518;p9">
            <a:extLst>
              <a:ext uri="{FF2B5EF4-FFF2-40B4-BE49-F238E27FC236}">
                <a16:creationId xmlns:a16="http://schemas.microsoft.com/office/drawing/2014/main" id="{9CB3E114-F502-BF62-0802-664DCF2517AC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3279740" y="6523505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07</a:t>
            </a:r>
            <a:endParaRPr lang="ar-SA" noProof="1"/>
          </a:p>
        </p:txBody>
      </p:sp>
      <p:sp>
        <p:nvSpPr>
          <p:cNvPr id="519" name="Google Shape;519;p9">
            <a:extLst>
              <a:ext uri="{FF2B5EF4-FFF2-40B4-BE49-F238E27FC236}">
                <a16:creationId xmlns:a16="http://schemas.microsoft.com/office/drawing/2014/main" id="{5CA0296D-25AD-1590-428B-87EB79F54C75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8258401" y="7279546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mp3quran.net</a:t>
            </a:r>
            <a:endParaRPr lang="ar-SA" noProof="1"/>
          </a:p>
        </p:txBody>
      </p:sp>
      <p:sp>
        <p:nvSpPr>
          <p:cNvPr id="2" name="Google Shape;509;p9">
            <a:extLst>
              <a:ext uri="{FF2B5EF4-FFF2-40B4-BE49-F238E27FC236}">
                <a16:creationId xmlns:a16="http://schemas.microsoft.com/office/drawing/2014/main" id="{A9313E8A-DD53-72D0-E321-B38FABD5A0CF}"/>
              </a:ext>
            </a:extLst>
          </p:cNvPr>
          <p:cNvSpPr txBox="1">
            <a:spLocks/>
          </p:cNvSpPr>
          <p:nvPr/>
        </p:nvSpPr>
        <p:spPr>
          <a:xfrm>
            <a:off x="-828750" y="4039798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 rtl="0">
              <a:buSzPts val="3900"/>
            </a:pPr>
            <a:r>
              <a:rPr lang="ar-SA" sz="3900" b="1" noProof="1">
                <a:solidFill>
                  <a:srgbClr val="2EF2C2"/>
                </a:solidFill>
              </a:rPr>
              <a:t>04</a:t>
            </a:r>
            <a:endParaRPr lang="ar-SA" noProof="1"/>
          </a:p>
        </p:txBody>
      </p:sp>
      <p:sp>
        <p:nvSpPr>
          <p:cNvPr id="9" name="Google Shape;518;p9">
            <a:extLst>
              <a:ext uri="{FF2B5EF4-FFF2-40B4-BE49-F238E27FC236}">
                <a16:creationId xmlns:a16="http://schemas.microsoft.com/office/drawing/2014/main" id="{B4C916B4-26FB-E916-D54D-4308604457CB}"/>
              </a:ext>
            </a:extLst>
          </p:cNvPr>
          <p:cNvSpPr txBox="1">
            <a:spLocks/>
          </p:cNvSpPr>
          <p:nvPr/>
        </p:nvSpPr>
        <p:spPr>
          <a:xfrm>
            <a:off x="-828750" y="6378382"/>
            <a:ext cx="44769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 rtl="0">
              <a:buSzPts val="3900"/>
            </a:pPr>
            <a:r>
              <a:rPr lang="ar-SA" sz="3900" b="1" noProof="1">
                <a:solidFill>
                  <a:srgbClr val="2EF2C2"/>
                </a:solidFill>
              </a:rPr>
              <a:t>08</a:t>
            </a:r>
            <a:endParaRPr lang="ar-SA" noProof="1"/>
          </a:p>
        </p:txBody>
      </p:sp>
      <p:sp>
        <p:nvSpPr>
          <p:cNvPr id="12" name="Google Shape;519;p9">
            <a:extLst>
              <a:ext uri="{FF2B5EF4-FFF2-40B4-BE49-F238E27FC236}">
                <a16:creationId xmlns:a16="http://schemas.microsoft.com/office/drawing/2014/main" id="{C33A277B-9553-0564-03E2-F3BBD7E7B7E5}"/>
              </a:ext>
            </a:extLst>
          </p:cNvPr>
          <p:cNvSpPr txBox="1">
            <a:spLocks/>
          </p:cNvSpPr>
          <p:nvPr/>
        </p:nvSpPr>
        <p:spPr>
          <a:xfrm>
            <a:off x="3781501" y="7279546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Quran.com</a:t>
            </a:r>
            <a:endParaRPr lang="ar-SA" noProof="1"/>
          </a:p>
        </p:txBody>
      </p:sp>
      <p:sp>
        <p:nvSpPr>
          <p:cNvPr id="13" name="Google Shape;513;p9">
            <a:extLst>
              <a:ext uri="{FF2B5EF4-FFF2-40B4-BE49-F238E27FC236}">
                <a16:creationId xmlns:a16="http://schemas.microsoft.com/office/drawing/2014/main" id="{ADDEFBC0-E81F-2FF5-8376-2FBB59EB9073}"/>
              </a:ext>
            </a:extLst>
          </p:cNvPr>
          <p:cNvSpPr txBox="1">
            <a:spLocks/>
          </p:cNvSpPr>
          <p:nvPr/>
        </p:nvSpPr>
        <p:spPr>
          <a:xfrm>
            <a:off x="18902" y="7212341"/>
            <a:ext cx="44769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1pPr>
            <a:lvl2pPr marL="914400" marR="0" lvl="1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 spc="0">
                <a:solidFill>
                  <a:srgbClr val="000000"/>
                </a:solidFill>
                <a:latin typeface="Readex Pro"/>
                <a:ea typeface="Readex Pro"/>
                <a:cs typeface="Readex Pro"/>
                <a:sym typeface="Readex Pro"/>
              </a:defRPr>
            </a:lvl9pPr>
          </a:lstStyle>
          <a:p>
            <a:pPr marL="0" indent="0">
              <a:buSzPts val="2850"/>
            </a:pPr>
            <a:r>
              <a:rPr lang="ar-SA" sz="3200" noProof="1">
                <a:solidFill>
                  <a:srgbClr val="CBCFE6"/>
                </a:solidFill>
              </a:rPr>
              <a:t>Claude Code</a:t>
            </a:r>
            <a:endParaRPr lang="ar-SA" noProof="1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259616-728A-7CBE-3C48-28B630277ED1}"/>
              </a:ext>
            </a:extLst>
          </p:cNvPr>
          <p:cNvSpPr txBox="1"/>
          <p:nvPr/>
        </p:nvSpPr>
        <p:spPr>
          <a:xfrm>
            <a:off x="12585245" y="2815602"/>
            <a:ext cx="9560378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rtl="1">
              <a:buSzPts val="2250"/>
            </a:pPr>
            <a:r>
              <a:rPr lang="ar-SA" sz="2400" noProof="1">
                <a:solidFill>
                  <a:srgbClr val="CBCFE6"/>
                </a:solidFill>
                <a:latin typeface="Readex Pro"/>
                <a:cs typeface="Readex Pro"/>
                <a:sym typeface="Readex Pro"/>
              </a:rPr>
              <a:t>كلها مسجلة في SOURCES.md</a:t>
            </a:r>
            <a:br>
              <a:rPr lang="ar-SA" sz="2800" noProof="1"/>
            </a:br>
            <a:endParaRPr lang="ar-SA" sz="2800" noProof="1"/>
          </a:p>
        </p:txBody>
      </p:sp>
    </p:spTree>
    <p:extLst>
      <p:ext uri="{BB962C8B-B14F-4D97-AF65-F5344CB8AC3E}">
        <p14:creationId xmlns:p14="http://schemas.microsoft.com/office/powerpoint/2010/main" val="10478586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 dirty="0"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2850"/>
            </a:pPr>
            <a:r>
              <a:rPr lang="ar-SA" sz="6000" b="1" dirty="0">
                <a:solidFill>
                  <a:srgbClr val="F2F4FF"/>
                </a:solidFill>
              </a:rPr>
              <a:t>النتائج</a:t>
            </a:r>
            <a:endParaRPr lang="ar-SA" sz="6000" dirty="0"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7294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2250"/>
            </a:pPr>
            <a:r>
              <a:rPr lang="ar-SA" sz="320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طموحٌ يتحقق</a:t>
            </a:r>
            <a:endParaRPr lang="ar-SA" sz="3200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6">
          <a:extLst>
            <a:ext uri="{FF2B5EF4-FFF2-40B4-BE49-F238E27FC236}">
              <a16:creationId xmlns:a16="http://schemas.microsoft.com/office/drawing/2014/main" id="{00EFCAE7-E316-CB73-AFF3-CC92DB726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7" name="Google Shape;817;p24" title="خلفية هكثون4.png">
            <a:extLst>
              <a:ext uri="{FF2B5EF4-FFF2-40B4-BE49-F238E27FC236}">
                <a16:creationId xmlns:a16="http://schemas.microsoft.com/office/drawing/2014/main" id="{67BFCF9A-92F2-3D4B-F519-CFDE069A726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8" name="Google Shape;818;p24">
            <a:extLst>
              <a:ext uri="{FF2B5EF4-FFF2-40B4-BE49-F238E27FC236}">
                <a16:creationId xmlns:a16="http://schemas.microsoft.com/office/drawing/2014/main" id="{EA9DC0F6-CD96-0FF7-4D6F-D836E66A9C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>
              <a:buSzPts val="1800"/>
            </a:pPr>
            <a:r>
              <a:rPr lang="ar-SA" sz="1800" dirty="0">
                <a:solidFill>
                  <a:srgbClr val="2EF2C2"/>
                </a:solidFill>
              </a:rPr>
              <a:t>نتائج المشروع</a:t>
            </a:r>
            <a:endParaRPr lang="ar-SA" sz="1800" dirty="0"/>
          </a:p>
        </p:txBody>
      </p:sp>
      <p:sp>
        <p:nvSpPr>
          <p:cNvPr id="819" name="Google Shape;819;p24">
            <a:extLst>
              <a:ext uri="{FF2B5EF4-FFF2-40B4-BE49-F238E27FC236}">
                <a16:creationId xmlns:a16="http://schemas.microsoft.com/office/drawing/2014/main" id="{E98B2303-9C20-C236-3F79-C358E0177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2188029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4500"/>
            </a:pPr>
            <a:r>
              <a:rPr lang="ar-SA" sz="4500" b="1" dirty="0">
                <a:solidFill>
                  <a:srgbClr val="F2F4FF"/>
                </a:solidFill>
              </a:rPr>
              <a:t>النتائج المحققة:</a:t>
            </a:r>
            <a:endParaRPr dirty="0"/>
          </a:p>
        </p:txBody>
      </p:sp>
      <p:sp>
        <p:nvSpPr>
          <p:cNvPr id="820" name="Google Shape;820;p24">
            <a:extLst>
              <a:ext uri="{FF2B5EF4-FFF2-40B4-BE49-F238E27FC236}">
                <a16:creationId xmlns:a16="http://schemas.microsoft.com/office/drawing/2014/main" id="{A08E1E91-F4A6-6D25-15F0-E0852DAF334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09700" y="3107869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>
              <a:buSzPts val="2400"/>
            </a:pPr>
            <a:r>
              <a:rPr lang="ar-SA" sz="2000" b="1" dirty="0">
                <a:solidFill>
                  <a:srgbClr val="CBCFE6"/>
                </a:solidFill>
              </a:rPr>
              <a:t>حل نُشر برابط مباشر، وفيه:</a:t>
            </a:r>
            <a:endParaRPr lang="ar-SA" sz="2000" b="1" dirty="0"/>
          </a:p>
        </p:txBody>
      </p:sp>
      <p:sp>
        <p:nvSpPr>
          <p:cNvPr id="821" name="Google Shape;821;p24">
            <a:extLst>
              <a:ext uri="{FF2B5EF4-FFF2-40B4-BE49-F238E27FC236}">
                <a16:creationId xmlns:a16="http://schemas.microsoft.com/office/drawing/2014/main" id="{CE8E88D5-6DD3-5ECE-043D-147DB3963CD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21</a:t>
            </a:fld>
            <a:endParaRPr/>
          </a:p>
        </p:txBody>
      </p:sp>
      <p:sp>
        <p:nvSpPr>
          <p:cNvPr id="822" name="Google Shape;822;p24">
            <a:extLst>
              <a:ext uri="{FF2B5EF4-FFF2-40B4-BE49-F238E27FC236}">
                <a16:creationId xmlns:a16="http://schemas.microsoft.com/office/drawing/2014/main" id="{3906EC75-729A-D1DA-A193-A7C5317FAADC}"/>
              </a:ext>
            </a:extLst>
          </p:cNvPr>
          <p:cNvSpPr/>
          <p:nvPr/>
        </p:nvSpPr>
        <p:spPr>
          <a:xfrm>
            <a:off x="13716000" y="4572000"/>
            <a:ext cx="3429000" cy="3282041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3867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 </a:t>
            </a:r>
            <a:r>
              <a:rPr lang="ar-SA" sz="240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نموذج أولي يعمل لصلاة الفجر كاملة، </a:t>
            </a:r>
            <a:r>
              <a:rPr lang="ar-SA" sz="2400" dirty="0">
                <a:solidFill>
                  <a:srgbClr val="CBCFE6"/>
                </a:solidFill>
                <a:latin typeface="Readex Pro"/>
                <a:cs typeface="Readex Pro"/>
                <a:sym typeface="Readex Pro"/>
              </a:rPr>
              <a:t>ركعتان </a:t>
            </a:r>
            <a:r>
              <a:rPr lang="ar-SA" sz="2400" dirty="0">
                <a:solidFill>
                  <a:srgbClr val="CBCFE6"/>
                </a:solidFill>
                <a:latin typeface="Readex Pro"/>
                <a:cs typeface="Readex Pro"/>
              </a:rPr>
              <a:t>و24 خطوة</a:t>
            </a:r>
          </a:p>
          <a:p>
            <a:pPr lvl="0" algn="r" rtl="1">
              <a:buSzPts val="2250"/>
            </a:pPr>
            <a:endParaRPr lang="ar-SA" sz="2400" dirty="0"/>
          </a:p>
          <a:p>
            <a:pPr marL="0" lvl="0" indent="0" algn="r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1" dirty="0"/>
          </a:p>
        </p:txBody>
      </p:sp>
      <p:sp>
        <p:nvSpPr>
          <p:cNvPr id="823" name="Google Shape;823;p24">
            <a:extLst>
              <a:ext uri="{FF2B5EF4-FFF2-40B4-BE49-F238E27FC236}">
                <a16:creationId xmlns:a16="http://schemas.microsoft.com/office/drawing/2014/main" id="{6B7E87AD-499B-03EF-386D-4CC4A64E8F5A}"/>
              </a:ext>
            </a:extLst>
          </p:cNvPr>
          <p:cNvSpPr/>
          <p:nvPr/>
        </p:nvSpPr>
        <p:spPr>
          <a:xfrm>
            <a:off x="9715500" y="4572000"/>
            <a:ext cx="3429000" cy="3282041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ar-SA" sz="3600" b="1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 </a:t>
            </a:r>
            <a:r>
              <a:rPr lang="ar-SA" sz="240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فحص وضعية للقيام والركوع والسجود</a:t>
            </a:r>
            <a:endParaRPr lang="ar-SA" sz="2400" dirty="0"/>
          </a:p>
          <a:p>
            <a:pPr marL="269999" lvl="0" indent="0" algn="r" rtl="1">
              <a:spcBef>
                <a:spcPts val="2200"/>
              </a:spcBef>
              <a:spcAft>
                <a:spcPts val="0"/>
              </a:spcAft>
              <a:buNone/>
            </a:pPr>
            <a:endParaRPr lang="ar-SA" sz="3600" dirty="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sp>
        <p:nvSpPr>
          <p:cNvPr id="824" name="Google Shape;824;p24">
            <a:extLst>
              <a:ext uri="{FF2B5EF4-FFF2-40B4-BE49-F238E27FC236}">
                <a16:creationId xmlns:a16="http://schemas.microsoft.com/office/drawing/2014/main" id="{A80768AD-FA8A-9E8B-76D6-A22C5938BB28}"/>
              </a:ext>
            </a:extLst>
          </p:cNvPr>
          <p:cNvSpPr/>
          <p:nvPr/>
        </p:nvSpPr>
        <p:spPr>
          <a:xfrm>
            <a:off x="5715000" y="4572000"/>
            <a:ext cx="3429000" cy="3282042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38125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r>
              <a:rPr lang="ar-SA" b="1" dirty="0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ar-SA" sz="240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فحص تلاوة الفاتحة آية آية</a:t>
            </a:r>
            <a:endParaRPr lang="ar-SA" sz="2400" dirty="0"/>
          </a:p>
        </p:txBody>
      </p:sp>
      <p:sp>
        <p:nvSpPr>
          <p:cNvPr id="825" name="Google Shape;825;p24">
            <a:extLst>
              <a:ext uri="{FF2B5EF4-FFF2-40B4-BE49-F238E27FC236}">
                <a16:creationId xmlns:a16="http://schemas.microsoft.com/office/drawing/2014/main" id="{2FBD37D1-5C36-73AD-C295-D06F521182C0}"/>
              </a:ext>
            </a:extLst>
          </p:cNvPr>
          <p:cNvSpPr/>
          <p:nvPr/>
        </p:nvSpPr>
        <p:spPr>
          <a:xfrm>
            <a:off x="1714500" y="4572000"/>
            <a:ext cx="3429000" cy="3282042"/>
          </a:xfrm>
          <a:prstGeom prst="roundRect">
            <a:avLst>
              <a:gd name="adj" fmla="val 8059"/>
            </a:avLst>
          </a:prstGeom>
          <a:solidFill>
            <a:srgbClr val="FFFFFF">
              <a:alpha val="3920"/>
            </a:srgbClr>
          </a:solidFill>
          <a:ln w="8175" cap="flat" cmpd="sng">
            <a:solidFill>
              <a:srgbClr val="2EF2C2">
                <a:alpha val="1216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400" tIns="78400" rIns="78400" bIns="78400" anchor="ctr" anchorCtr="0">
            <a:noAutofit/>
          </a:bodyPr>
          <a:lstStyle/>
          <a:p>
            <a:pPr marL="0" marR="223307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36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r>
              <a:rPr lang="ar-SA" b="1" dirty="0">
                <a:solidFill>
                  <a:schemeClr val="dk1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ar-SA" sz="240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رسوم متحركة، وصوت، وشاشة: "قبل أن تصلي"</a:t>
            </a:r>
            <a:endParaRPr lang="ar-SA" sz="2400" dirty="0"/>
          </a:p>
        </p:txBody>
      </p:sp>
      <p:pic>
        <p:nvPicPr>
          <p:cNvPr id="826" name="Google Shape;826;p24">
            <a:extLst>
              <a:ext uri="{FF2B5EF4-FFF2-40B4-BE49-F238E27FC236}">
                <a16:creationId xmlns:a16="http://schemas.microsoft.com/office/drawing/2014/main" id="{8BFE5CED-B006-C44F-A2D0-AB4C46F23B0A}"/>
              </a:ext>
            </a:extLst>
          </p:cNvPr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459654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10" title="خلفية هكثون3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10"/>
          <p:cNvSpPr txBox="1">
            <a:spLocks noGrp="1"/>
          </p:cNvSpPr>
          <p:nvPr>
            <p:ph type="body" idx="1"/>
          </p:nvPr>
        </p:nvSpPr>
        <p:spPr>
          <a:xfrm>
            <a:off x="13125450" y="3143250"/>
            <a:ext cx="36195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400"/>
              <a:buNone/>
            </a:pPr>
            <a:r>
              <a:rPr lang="ar-SA" sz="8400" b="1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06</a:t>
            </a:r>
            <a:endParaRPr dirty="0"/>
          </a:p>
        </p:txBody>
      </p:sp>
      <p:sp>
        <p:nvSpPr>
          <p:cNvPr id="528" name="Google Shape;528;p10"/>
          <p:cNvSpPr txBox="1">
            <a:spLocks noGrp="1"/>
          </p:cNvSpPr>
          <p:nvPr>
            <p:ph type="title"/>
          </p:nvPr>
        </p:nvSpPr>
        <p:spPr>
          <a:xfrm>
            <a:off x="9179000" y="4810125"/>
            <a:ext cx="7566000" cy="12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SzPts val="2850"/>
            </a:pPr>
            <a:r>
              <a:rPr lang="ar-SA" sz="6000" b="1" dirty="0">
                <a:solidFill>
                  <a:srgbClr val="F2F4FF"/>
                </a:solidFill>
              </a:rPr>
              <a:t>خطة الاستمرار</a:t>
            </a:r>
            <a:endParaRPr lang="ar-SA" sz="6000" dirty="0"/>
          </a:p>
        </p:txBody>
      </p:sp>
      <p:sp>
        <p:nvSpPr>
          <p:cNvPr id="529" name="Google Shape;529;p10"/>
          <p:cNvSpPr txBox="1">
            <a:spLocks noGrp="1"/>
          </p:cNvSpPr>
          <p:nvPr>
            <p:ph type="body" idx="2"/>
          </p:nvPr>
        </p:nvSpPr>
        <p:spPr>
          <a:xfrm>
            <a:off x="9958050" y="6162937"/>
            <a:ext cx="7015500" cy="6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>
              <a:buSzPts val="2250"/>
            </a:pPr>
            <a:r>
              <a:rPr lang="ar-SA" sz="3200" dirty="0">
                <a:solidFill>
                  <a:srgbClr val="CBCFE6"/>
                </a:solidFill>
                <a:latin typeface="Readex Pro Light"/>
                <a:ea typeface="Readex Pro Light"/>
                <a:cs typeface="Readex Pro Light"/>
                <a:sym typeface="Readex Pro Light"/>
              </a:rPr>
              <a:t>أملٌ لا ينضب</a:t>
            </a:r>
            <a:r>
              <a:rPr lang="ar-SA" sz="3200" dirty="0">
                <a:solidFill>
                  <a:srgbClr val="CBCFE6"/>
                </a:solidFill>
                <a:latin typeface="Readex Pro Light"/>
                <a:cs typeface="Readex Pro Light"/>
                <a:sym typeface="Readex Pro Light"/>
              </a:rPr>
              <a:t>، وعزمٌ لا يَخْلَق..</a:t>
            </a:r>
          </a:p>
          <a:p>
            <a:pPr marL="0" lvl="0" indent="0">
              <a:buSzPts val="2250"/>
            </a:pPr>
            <a:endParaRPr lang="ar-SA" sz="3200" dirty="0">
              <a:latin typeface="Readex Pro Light"/>
              <a:ea typeface="Readex Pro Light"/>
              <a:cs typeface="Readex Pro Light"/>
              <a:sym typeface="Readex Pro Light"/>
            </a:endParaRPr>
          </a:p>
        </p:txBody>
      </p:sp>
      <p:pic>
        <p:nvPicPr>
          <p:cNvPr id="530" name="Google Shape;530;p10"/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649">
          <a:extLst>
            <a:ext uri="{FF2B5EF4-FFF2-40B4-BE49-F238E27FC236}">
              <a16:creationId xmlns:a16="http://schemas.microsoft.com/office/drawing/2014/main" id="{13B5FD73-1BB4-C611-68B2-D08ED724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18">
            <a:extLst>
              <a:ext uri="{FF2B5EF4-FFF2-40B4-BE49-F238E27FC236}">
                <a16:creationId xmlns:a16="http://schemas.microsoft.com/office/drawing/2014/main" id="{1198935D-614D-2973-D798-12E26325FF2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18">
            <a:extLst>
              <a:ext uri="{FF2B5EF4-FFF2-40B4-BE49-F238E27FC236}">
                <a16:creationId xmlns:a16="http://schemas.microsoft.com/office/drawing/2014/main" id="{2B564375-11AD-6D13-82AA-C7855E20A0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 noProof="1" smtClean="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23</a:t>
            </a:fld>
            <a:endParaRPr lang="ar-SA" noProof="1"/>
          </a:p>
        </p:txBody>
      </p:sp>
      <p:sp>
        <p:nvSpPr>
          <p:cNvPr id="652" name="Google Shape;652;p18">
            <a:extLst>
              <a:ext uri="{FF2B5EF4-FFF2-40B4-BE49-F238E27FC236}">
                <a16:creationId xmlns:a16="http://schemas.microsoft.com/office/drawing/2014/main" id="{C804E311-2E79-2069-86B3-0CA6DEE709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خطة الاستمرار</a:t>
            </a:r>
            <a:endParaRPr lang="ar-SA" noProof="1"/>
          </a:p>
        </p:txBody>
      </p:sp>
      <p:sp>
        <p:nvSpPr>
          <p:cNvPr id="653" name="Google Shape;653;p18">
            <a:extLst>
              <a:ext uri="{FF2B5EF4-FFF2-40B4-BE49-F238E27FC236}">
                <a16:creationId xmlns:a16="http://schemas.microsoft.com/office/drawing/2014/main" id="{507A8ACA-BB66-E8BF-A335-28E14B966C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خطة الاستمرار</a:t>
            </a:r>
            <a:endParaRPr lang="ar-SA" noProof="1"/>
          </a:p>
        </p:txBody>
      </p:sp>
      <p:sp>
        <p:nvSpPr>
          <p:cNvPr id="654" name="Google Shape;654;p18">
            <a:extLst>
              <a:ext uri="{FF2B5EF4-FFF2-40B4-BE49-F238E27FC236}">
                <a16:creationId xmlns:a16="http://schemas.microsoft.com/office/drawing/2014/main" id="{337290A6-244D-5499-2982-704CCA197A3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noProof="1">
                <a:solidFill>
                  <a:srgbClr val="CBCFE6"/>
                </a:solidFill>
              </a:rPr>
              <a:t>البناء على النسخة العاملة حاليًا وتطوير "صَلِّ معي" تدريجيًا من خلال:</a:t>
            </a:r>
            <a:endParaRPr lang="ar-SA" noProof="1"/>
          </a:p>
        </p:txBody>
      </p:sp>
      <p:sp>
        <p:nvSpPr>
          <p:cNvPr id="655" name="Google Shape;655;p18">
            <a:extLst>
              <a:ext uri="{FF2B5EF4-FFF2-40B4-BE49-F238E27FC236}">
                <a16:creationId xmlns:a16="http://schemas.microsoft.com/office/drawing/2014/main" id="{1709EA4D-5187-3831-A5B1-7AECF9429DE1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13982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01</a:t>
            </a:r>
            <a:endParaRPr lang="ar-SA" noProof="1"/>
          </a:p>
        </p:txBody>
      </p:sp>
      <p:sp>
        <p:nvSpPr>
          <p:cNvPr id="656" name="Google Shape;656;p18">
            <a:extLst>
              <a:ext uri="{FF2B5EF4-FFF2-40B4-BE49-F238E27FC236}">
                <a16:creationId xmlns:a16="http://schemas.microsoft.com/office/drawing/2014/main" id="{083FEFC5-4120-3C29-ACAC-91BA5272A3F1}"/>
              </a:ext>
            </a:extLst>
          </p:cNvPr>
          <p:cNvSpPr txBox="1">
            <a:spLocks noGrp="1"/>
          </p:cNvSpPr>
          <p:nvPr>
            <p:ph type="body" idx="4"/>
          </p:nvPr>
        </p:nvSpPr>
        <p:spPr>
          <a:xfrm>
            <a:off x="13992300" y="5143500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توسيع نطاق المحتوى</a:t>
            </a:r>
            <a:endParaRPr lang="ar-SA" noProof="1"/>
          </a:p>
        </p:txBody>
      </p:sp>
      <p:sp>
        <p:nvSpPr>
          <p:cNvPr id="657" name="Google Shape;657;p18">
            <a:extLst>
              <a:ext uri="{FF2B5EF4-FFF2-40B4-BE49-F238E27FC236}">
                <a16:creationId xmlns:a16="http://schemas.microsoft.com/office/drawing/2014/main" id="{29859271-B245-23E3-1865-C4E28A2AB679}"/>
              </a:ext>
            </a:extLst>
          </p:cNvPr>
          <p:cNvSpPr txBox="1">
            <a:spLocks noGrp="1"/>
          </p:cNvSpPr>
          <p:nvPr>
            <p:ph type="body" idx="5"/>
          </p:nvPr>
        </p:nvSpPr>
        <p:spPr>
          <a:xfrm>
            <a:off x="13973100" y="6269342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noProof="1">
                <a:solidFill>
                  <a:srgbClr val="2EF2C2"/>
                </a:solidFill>
              </a:rPr>
              <a:t>عن طريق:</a:t>
            </a:r>
            <a:endParaRPr lang="ar-SA" noProof="1"/>
          </a:p>
        </p:txBody>
      </p:sp>
      <p:sp>
        <p:nvSpPr>
          <p:cNvPr id="658" name="Google Shape;658;p18">
            <a:extLst>
              <a:ext uri="{FF2B5EF4-FFF2-40B4-BE49-F238E27FC236}">
                <a16:creationId xmlns:a16="http://schemas.microsoft.com/office/drawing/2014/main" id="{16BB0976-DD5B-0770-94E6-EB4257CC914F}"/>
              </a:ext>
            </a:extLst>
          </p:cNvPr>
          <p:cNvSpPr txBox="1">
            <a:spLocks noGrp="1"/>
          </p:cNvSpPr>
          <p:nvPr>
            <p:ph type="body" idx="6"/>
          </p:nvPr>
        </p:nvSpPr>
        <p:spPr>
          <a:xfrm>
            <a:off x="13973100" y="7048650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3FB0D6"/>
                </a:solidFill>
              </a:rPr>
              <a:t>إضافة رحلة بقية الصلوات الخمس المفروضة</a:t>
            </a:r>
          </a:p>
        </p:txBody>
      </p:sp>
      <p:sp>
        <p:nvSpPr>
          <p:cNvPr id="659" name="Google Shape;659;p18">
            <a:extLst>
              <a:ext uri="{FF2B5EF4-FFF2-40B4-BE49-F238E27FC236}">
                <a16:creationId xmlns:a16="http://schemas.microsoft.com/office/drawing/2014/main" id="{C70BD7B5-86BC-1565-75BC-2AA0311E7C30}"/>
              </a:ext>
            </a:extLst>
          </p:cNvPr>
          <p:cNvSpPr txBox="1">
            <a:spLocks noGrp="1"/>
          </p:cNvSpPr>
          <p:nvPr>
            <p:ph type="body" idx="7"/>
          </p:nvPr>
        </p:nvSpPr>
        <p:spPr>
          <a:xfrm>
            <a:off x="108394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02</a:t>
            </a:r>
            <a:endParaRPr lang="ar-SA" noProof="1"/>
          </a:p>
        </p:txBody>
      </p:sp>
      <p:sp>
        <p:nvSpPr>
          <p:cNvPr id="660" name="Google Shape;660;p18">
            <a:extLst>
              <a:ext uri="{FF2B5EF4-FFF2-40B4-BE49-F238E27FC236}">
                <a16:creationId xmlns:a16="http://schemas.microsoft.com/office/drawing/2014/main" id="{79C82A7D-775D-C9FA-628A-79F9913BC609}"/>
              </a:ext>
            </a:extLst>
          </p:cNvPr>
          <p:cNvSpPr txBox="1">
            <a:spLocks noGrp="1"/>
          </p:cNvSpPr>
          <p:nvPr>
            <p:ph type="body" idx="8"/>
          </p:nvPr>
        </p:nvSpPr>
        <p:spPr>
          <a:xfrm>
            <a:off x="10877550" y="5054156"/>
            <a:ext cx="2857500" cy="994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تطوير الذكاء الاصطناعي</a:t>
            </a:r>
            <a:endParaRPr lang="ar-SA" noProof="1"/>
          </a:p>
        </p:txBody>
      </p:sp>
      <p:sp>
        <p:nvSpPr>
          <p:cNvPr id="661" name="Google Shape;661;p18">
            <a:extLst>
              <a:ext uri="{FF2B5EF4-FFF2-40B4-BE49-F238E27FC236}">
                <a16:creationId xmlns:a16="http://schemas.microsoft.com/office/drawing/2014/main" id="{9523DB96-6966-F38D-282B-08B90AAB0C9A}"/>
              </a:ext>
            </a:extLst>
          </p:cNvPr>
          <p:cNvSpPr txBox="1">
            <a:spLocks noGrp="1"/>
          </p:cNvSpPr>
          <p:nvPr>
            <p:ph type="body" idx="9"/>
          </p:nvPr>
        </p:nvSpPr>
        <p:spPr>
          <a:xfrm>
            <a:off x="10877550" y="6219831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عن طريق:</a:t>
            </a:r>
            <a:endParaRPr lang="ar-SA" noProof="1"/>
          </a:p>
        </p:txBody>
      </p:sp>
      <p:sp>
        <p:nvSpPr>
          <p:cNvPr id="662" name="Google Shape;662;p18">
            <a:extLst>
              <a:ext uri="{FF2B5EF4-FFF2-40B4-BE49-F238E27FC236}">
                <a16:creationId xmlns:a16="http://schemas.microsoft.com/office/drawing/2014/main" id="{29BB56EC-F126-959F-87FE-65815932524B}"/>
              </a:ext>
            </a:extLst>
          </p:cNvPr>
          <p:cNvSpPr txBox="1">
            <a:spLocks noGrp="1"/>
          </p:cNvSpPr>
          <p:nvPr>
            <p:ph type="body" idx="13"/>
          </p:nvPr>
        </p:nvSpPr>
        <p:spPr>
          <a:xfrm>
            <a:off x="10958549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3FB0D6"/>
                </a:solidFill>
              </a:rPr>
              <a:t>تحسين دقة تحليل الحركات والقراءة والتغذية الراجعة</a:t>
            </a:r>
            <a:r>
              <a:rPr lang="ar-SA" sz="2400" noProof="1">
                <a:solidFill>
                  <a:srgbClr val="3FB0D6"/>
                </a:solidFill>
              </a:rPr>
              <a:t>.</a:t>
            </a:r>
            <a:endParaRPr lang="ar-SA" noProof="1">
              <a:solidFill>
                <a:srgbClr val="3FB0D6"/>
              </a:solidFill>
            </a:endParaRPr>
          </a:p>
        </p:txBody>
      </p:sp>
      <p:sp>
        <p:nvSpPr>
          <p:cNvPr id="663" name="Google Shape;663;p18">
            <a:extLst>
              <a:ext uri="{FF2B5EF4-FFF2-40B4-BE49-F238E27FC236}">
                <a16:creationId xmlns:a16="http://schemas.microsoft.com/office/drawing/2014/main" id="{AB19AF22-0EE7-6CE5-E4D5-D7FCADC09BF5}"/>
              </a:ext>
            </a:extLst>
          </p:cNvPr>
          <p:cNvSpPr txBox="1">
            <a:spLocks noGrp="1"/>
          </p:cNvSpPr>
          <p:nvPr>
            <p:ph type="body" idx="14"/>
          </p:nvPr>
        </p:nvSpPr>
        <p:spPr>
          <a:xfrm>
            <a:off x="76962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03</a:t>
            </a:r>
            <a:endParaRPr lang="ar-SA" noProof="1"/>
          </a:p>
        </p:txBody>
      </p:sp>
      <p:sp>
        <p:nvSpPr>
          <p:cNvPr id="664" name="Google Shape;664;p18">
            <a:extLst>
              <a:ext uri="{FF2B5EF4-FFF2-40B4-BE49-F238E27FC236}">
                <a16:creationId xmlns:a16="http://schemas.microsoft.com/office/drawing/2014/main" id="{3E215F83-BAAC-C5C7-ED8D-14DA82C6498C}"/>
              </a:ext>
            </a:extLst>
          </p:cNvPr>
          <p:cNvSpPr txBox="1">
            <a:spLocks noGrp="1"/>
          </p:cNvSpPr>
          <p:nvPr>
            <p:ph type="body" idx="15"/>
          </p:nvPr>
        </p:nvSpPr>
        <p:spPr>
          <a:xfrm>
            <a:off x="7696200" y="5048175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إثراء المحتوى الشرعي</a:t>
            </a:r>
            <a:endParaRPr lang="ar-SA" noProof="1"/>
          </a:p>
        </p:txBody>
      </p:sp>
      <p:sp>
        <p:nvSpPr>
          <p:cNvPr id="665" name="Google Shape;665;p18">
            <a:extLst>
              <a:ext uri="{FF2B5EF4-FFF2-40B4-BE49-F238E27FC236}">
                <a16:creationId xmlns:a16="http://schemas.microsoft.com/office/drawing/2014/main" id="{B9ACAFF5-7D6D-A43C-7545-60FCB3D852BD}"/>
              </a:ext>
            </a:extLst>
          </p:cNvPr>
          <p:cNvSpPr txBox="1">
            <a:spLocks noGrp="1"/>
          </p:cNvSpPr>
          <p:nvPr>
            <p:ph type="body" idx="16"/>
          </p:nvPr>
        </p:nvSpPr>
        <p:spPr>
          <a:xfrm>
            <a:off x="7696200" y="6219825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عن طريق:</a:t>
            </a:r>
            <a:endParaRPr lang="ar-SA" noProof="1"/>
          </a:p>
        </p:txBody>
      </p:sp>
      <p:sp>
        <p:nvSpPr>
          <p:cNvPr id="666" name="Google Shape;666;p18">
            <a:extLst>
              <a:ext uri="{FF2B5EF4-FFF2-40B4-BE49-F238E27FC236}">
                <a16:creationId xmlns:a16="http://schemas.microsoft.com/office/drawing/2014/main" id="{A118FFE3-1657-6035-2E30-29F1CB42E0BE}"/>
              </a:ext>
            </a:extLst>
          </p:cNvPr>
          <p:cNvSpPr txBox="1">
            <a:spLocks noGrp="1"/>
          </p:cNvSpPr>
          <p:nvPr>
            <p:ph type="body" idx="17"/>
          </p:nvPr>
        </p:nvSpPr>
        <p:spPr>
          <a:xfrm>
            <a:off x="7667700" y="7000875"/>
            <a:ext cx="2964449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noProof="1">
                <a:solidFill>
                  <a:srgbClr val="3FB0D6"/>
                </a:solidFill>
                <a:latin typeface="Readex Pro"/>
                <a:ea typeface="Readex Pro"/>
                <a:cs typeface="Readex Pro"/>
                <a:sym typeface="Readex Pro"/>
              </a:rPr>
              <a:t>إضافة بقية سنن الصلاة، مع إضافة محتويات علمية إثرائية عن الصلاة</a:t>
            </a:r>
            <a:endParaRPr lang="ar-SA" noProof="1">
              <a:solidFill>
                <a:srgbClr val="3FB0D6"/>
              </a:solidFill>
            </a:endParaRPr>
          </a:p>
        </p:txBody>
      </p:sp>
      <p:sp>
        <p:nvSpPr>
          <p:cNvPr id="667" name="Google Shape;667;p18">
            <a:extLst>
              <a:ext uri="{FF2B5EF4-FFF2-40B4-BE49-F238E27FC236}">
                <a16:creationId xmlns:a16="http://schemas.microsoft.com/office/drawing/2014/main" id="{ED543DB3-5D29-ABB6-5E92-AF49E0A40350}"/>
              </a:ext>
            </a:extLst>
          </p:cNvPr>
          <p:cNvSpPr txBox="1">
            <a:spLocks noGrp="1"/>
          </p:cNvSpPr>
          <p:nvPr>
            <p:ph type="body" idx="18"/>
          </p:nvPr>
        </p:nvSpPr>
        <p:spPr>
          <a:xfrm>
            <a:off x="455295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04</a:t>
            </a:r>
            <a:endParaRPr lang="ar-SA" noProof="1"/>
          </a:p>
        </p:txBody>
      </p:sp>
      <p:sp>
        <p:nvSpPr>
          <p:cNvPr id="668" name="Google Shape;668;p18">
            <a:extLst>
              <a:ext uri="{FF2B5EF4-FFF2-40B4-BE49-F238E27FC236}">
                <a16:creationId xmlns:a16="http://schemas.microsoft.com/office/drawing/2014/main" id="{CAA86426-40AB-9ECE-277E-D68EC15C44FD}"/>
              </a:ext>
            </a:extLst>
          </p:cNvPr>
          <p:cNvSpPr txBox="1">
            <a:spLocks noGrp="1"/>
          </p:cNvSpPr>
          <p:nvPr>
            <p:ph type="body" idx="19"/>
          </p:nvPr>
        </p:nvSpPr>
        <p:spPr>
          <a:xfrm>
            <a:off x="4552950" y="5057319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الاختبار </a:t>
            </a:r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</a:rPr>
              <a:t>والتحسين</a:t>
            </a:r>
            <a:endParaRPr lang="ar-SA" noProof="1"/>
          </a:p>
        </p:txBody>
      </p:sp>
      <p:sp>
        <p:nvSpPr>
          <p:cNvPr id="669" name="Google Shape;669;p18">
            <a:extLst>
              <a:ext uri="{FF2B5EF4-FFF2-40B4-BE49-F238E27FC236}">
                <a16:creationId xmlns:a16="http://schemas.microsoft.com/office/drawing/2014/main" id="{BB45D428-39C3-7F0C-59ED-F32875AE4D77}"/>
              </a:ext>
            </a:extLst>
          </p:cNvPr>
          <p:cNvSpPr txBox="1">
            <a:spLocks noGrp="1"/>
          </p:cNvSpPr>
          <p:nvPr>
            <p:ph type="body" idx="20"/>
          </p:nvPr>
        </p:nvSpPr>
        <p:spPr>
          <a:xfrm>
            <a:off x="4552950" y="6200431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عن طريق:</a:t>
            </a:r>
            <a:endParaRPr lang="ar-SA" noProof="1"/>
          </a:p>
        </p:txBody>
      </p:sp>
      <p:sp>
        <p:nvSpPr>
          <p:cNvPr id="670" name="Google Shape;670;p18">
            <a:extLst>
              <a:ext uri="{FF2B5EF4-FFF2-40B4-BE49-F238E27FC236}">
                <a16:creationId xmlns:a16="http://schemas.microsoft.com/office/drawing/2014/main" id="{8C137689-A217-75A1-68B7-0AC20F9B105D}"/>
              </a:ext>
            </a:extLst>
          </p:cNvPr>
          <p:cNvSpPr txBox="1">
            <a:spLocks noGrp="1"/>
          </p:cNvSpPr>
          <p:nvPr>
            <p:ph type="body" idx="21"/>
          </p:nvPr>
        </p:nvSpPr>
        <p:spPr>
          <a:xfrm>
            <a:off x="4181400" y="7000875"/>
            <a:ext cx="31623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3FB0D6"/>
                </a:solidFill>
              </a:rPr>
              <a:t>اختبار الحل مع مستخدمين فعليين وقياس الدقة وتجربة الاستخدام.</a:t>
            </a:r>
          </a:p>
        </p:txBody>
      </p:sp>
      <p:sp>
        <p:nvSpPr>
          <p:cNvPr id="671" name="Google Shape;671;p18">
            <a:extLst>
              <a:ext uri="{FF2B5EF4-FFF2-40B4-BE49-F238E27FC236}">
                <a16:creationId xmlns:a16="http://schemas.microsoft.com/office/drawing/2014/main" id="{1DFE04A3-FDE8-D9DD-A111-B6CA53C4040A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xfrm>
            <a:off x="1409700" y="3762375"/>
            <a:ext cx="285750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</a:pPr>
            <a:r>
              <a:rPr lang="ar-SA" sz="3900" b="1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05</a:t>
            </a:r>
            <a:endParaRPr lang="ar-SA" noProof="1"/>
          </a:p>
        </p:txBody>
      </p:sp>
      <p:sp>
        <p:nvSpPr>
          <p:cNvPr id="672" name="Google Shape;672;p18">
            <a:extLst>
              <a:ext uri="{FF2B5EF4-FFF2-40B4-BE49-F238E27FC236}">
                <a16:creationId xmlns:a16="http://schemas.microsoft.com/office/drawing/2014/main" id="{50543127-D688-4C57-C544-E6382947619B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xfrm>
            <a:off x="1409700" y="5076597"/>
            <a:ext cx="28575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التوسع</a:t>
            </a:r>
          </a:p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noProof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 والوصول</a:t>
            </a:r>
            <a:endParaRPr lang="ar-SA" noProof="1"/>
          </a:p>
        </p:txBody>
      </p:sp>
      <p:sp>
        <p:nvSpPr>
          <p:cNvPr id="673" name="Google Shape;673;p18">
            <a:extLst>
              <a:ext uri="{FF2B5EF4-FFF2-40B4-BE49-F238E27FC236}">
                <a16:creationId xmlns:a16="http://schemas.microsoft.com/office/drawing/2014/main" id="{7BC3F455-E4E2-488A-46BF-D8025DAFBFC0}"/>
              </a:ext>
            </a:extLst>
          </p:cNvPr>
          <p:cNvSpPr txBox="1">
            <a:spLocks noGrp="1"/>
          </p:cNvSpPr>
          <p:nvPr>
            <p:ph type="body" idx="24"/>
          </p:nvPr>
        </p:nvSpPr>
        <p:spPr>
          <a:xfrm>
            <a:off x="1409700" y="6210300"/>
            <a:ext cx="28575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noProof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عن طريق:</a:t>
            </a:r>
            <a:endParaRPr lang="ar-SA" noProof="1"/>
          </a:p>
        </p:txBody>
      </p:sp>
      <p:sp>
        <p:nvSpPr>
          <p:cNvPr id="674" name="Google Shape;674;p18">
            <a:extLst>
              <a:ext uri="{FF2B5EF4-FFF2-40B4-BE49-F238E27FC236}">
                <a16:creationId xmlns:a16="http://schemas.microsoft.com/office/drawing/2014/main" id="{BC9F4DCD-9521-92EA-7335-35682DF12BC3}"/>
              </a:ext>
            </a:extLst>
          </p:cNvPr>
          <p:cNvSpPr txBox="1">
            <a:spLocks noGrp="1"/>
          </p:cNvSpPr>
          <p:nvPr>
            <p:ph type="body" idx="25"/>
          </p:nvPr>
        </p:nvSpPr>
        <p:spPr>
          <a:xfrm>
            <a:off x="1323900" y="7000875"/>
            <a:ext cx="2857500" cy="10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>
              <a:buSzPts val="2250"/>
            </a:pPr>
            <a:r>
              <a:rPr lang="ar-SA" sz="2250" noProof="1">
                <a:solidFill>
                  <a:srgbClr val="3FB0D6"/>
                </a:solidFill>
              </a:rPr>
              <a:t>دعم لغات إضافية وتطوير شراكات شرعية وتقنية وتعليمية.</a:t>
            </a:r>
          </a:p>
        </p:txBody>
      </p:sp>
      <p:cxnSp>
        <p:nvCxnSpPr>
          <p:cNvPr id="675" name="Google Shape;675;p18">
            <a:extLst>
              <a:ext uri="{FF2B5EF4-FFF2-40B4-BE49-F238E27FC236}">
                <a16:creationId xmlns:a16="http://schemas.microsoft.com/office/drawing/2014/main" id="{423737FF-2A54-2A10-E54B-834A81B7333B}"/>
              </a:ext>
            </a:extLst>
          </p:cNvPr>
          <p:cNvCxnSpPr/>
          <p:nvPr/>
        </p:nvCxnSpPr>
        <p:spPr>
          <a:xfrm rot="10800000">
            <a:off x="139923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6" name="Google Shape;676;p18">
            <a:extLst>
              <a:ext uri="{FF2B5EF4-FFF2-40B4-BE49-F238E27FC236}">
                <a16:creationId xmlns:a16="http://schemas.microsoft.com/office/drawing/2014/main" id="{8B2CF372-078D-7BED-27C9-CB2601F4DCF5}"/>
              </a:ext>
            </a:extLst>
          </p:cNvPr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77" name="Google Shape;677;p18">
            <a:extLst>
              <a:ext uri="{FF2B5EF4-FFF2-40B4-BE49-F238E27FC236}">
                <a16:creationId xmlns:a16="http://schemas.microsoft.com/office/drawing/2014/main" id="{66AC93E2-AC7D-8210-A440-06AAD17E19A6}"/>
              </a:ext>
            </a:extLst>
          </p:cNvPr>
          <p:cNvCxnSpPr/>
          <p:nvPr/>
        </p:nvCxnSpPr>
        <p:spPr>
          <a:xfrm rot="10800000">
            <a:off x="108300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8" name="Google Shape;678;p18">
            <a:extLst>
              <a:ext uri="{FF2B5EF4-FFF2-40B4-BE49-F238E27FC236}">
                <a16:creationId xmlns:a16="http://schemas.microsoft.com/office/drawing/2014/main" id="{3DCDA1DA-695E-E10A-17EE-D1F134F0266A}"/>
              </a:ext>
            </a:extLst>
          </p:cNvPr>
          <p:cNvCxnSpPr/>
          <p:nvPr/>
        </p:nvCxnSpPr>
        <p:spPr>
          <a:xfrm rot="10800000">
            <a:off x="76677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9" name="Google Shape;679;p18">
            <a:extLst>
              <a:ext uri="{FF2B5EF4-FFF2-40B4-BE49-F238E27FC236}">
                <a16:creationId xmlns:a16="http://schemas.microsoft.com/office/drawing/2014/main" id="{7F648063-45F2-4381-F10D-626F8C4D7364}"/>
              </a:ext>
            </a:extLst>
          </p:cNvPr>
          <p:cNvCxnSpPr/>
          <p:nvPr/>
        </p:nvCxnSpPr>
        <p:spPr>
          <a:xfrm rot="10800000">
            <a:off x="45054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0" name="Google Shape;680;p18">
            <a:extLst>
              <a:ext uri="{FF2B5EF4-FFF2-40B4-BE49-F238E27FC236}">
                <a16:creationId xmlns:a16="http://schemas.microsoft.com/office/drawing/2014/main" id="{AD378C28-4312-0991-0055-817ECB0EFDCC}"/>
              </a:ext>
            </a:extLst>
          </p:cNvPr>
          <p:cNvCxnSpPr/>
          <p:nvPr/>
        </p:nvCxnSpPr>
        <p:spPr>
          <a:xfrm rot="10800000">
            <a:off x="1343100" y="4708975"/>
            <a:ext cx="2838300" cy="0"/>
          </a:xfrm>
          <a:prstGeom prst="straightConnector1">
            <a:avLst/>
          </a:prstGeom>
          <a:noFill/>
          <a:ln w="76200" cap="flat" cmpd="sng">
            <a:solidFill>
              <a:srgbClr val="6150EA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853811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0D431317-C568-FCB2-C336-8FCFD9CC7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9">
            <a:extLst>
              <a:ext uri="{FF2B5EF4-FFF2-40B4-BE49-F238E27FC236}">
                <a16:creationId xmlns:a16="http://schemas.microsoft.com/office/drawing/2014/main" id="{0000DB60-1158-830C-B027-913E59EF634F}"/>
              </a:ext>
            </a:extLst>
          </p:cNvPr>
          <p:cNvPicPr preferRelativeResize="0"/>
          <p:nvPr/>
        </p:nvPicPr>
        <p:blipFill rotWithShape="1">
          <a:blip r:embed="rId3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>
            <a:extLst>
              <a:ext uri="{FF2B5EF4-FFF2-40B4-BE49-F238E27FC236}">
                <a16:creationId xmlns:a16="http://schemas.microsoft.com/office/drawing/2014/main" id="{9B800931-B0D4-E08C-D9AB-65EA564B2A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صَلِّ معي</a:t>
            </a:r>
            <a:endParaRPr dirty="0"/>
          </a:p>
        </p:txBody>
      </p:sp>
      <p:sp>
        <p:nvSpPr>
          <p:cNvPr id="501" name="Google Shape;501;p9">
            <a:extLst>
              <a:ext uri="{FF2B5EF4-FFF2-40B4-BE49-F238E27FC236}">
                <a16:creationId xmlns:a16="http://schemas.microsoft.com/office/drawing/2014/main" id="{D9601EC5-C2B5-AB0D-60AE-036A328DEE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7788" y="1881188"/>
            <a:ext cx="15430500" cy="87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الرؤية المستقبلية للتطبيق: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02" name="Google Shape;502;p9">
            <a:extLst>
              <a:ext uri="{FF2B5EF4-FFF2-40B4-BE49-F238E27FC236}">
                <a16:creationId xmlns:a16="http://schemas.microsoft.com/office/drawing/2014/main" id="{E0830034-6C90-EFA9-94D4-DEB6321982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24</a:t>
            </a:fld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C2C8FD-DDF4-5690-AAF3-3A891EC85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12272" y="3199507"/>
            <a:ext cx="5372101" cy="60528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BD6A25D-A9BF-53F6-8EEC-04D59F4C8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5011" y="3199507"/>
            <a:ext cx="4860643" cy="605287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EBD47A-BBF8-2F23-954C-3C80185782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9006" y="3199507"/>
            <a:ext cx="5104730" cy="596342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D4416F1A-D4DB-79C7-A73E-D4576C3EC1E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67087" y="3205424"/>
            <a:ext cx="4860643" cy="605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8987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872023A2-8B2B-6F59-B241-68D1CBEC7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9">
            <a:extLst>
              <a:ext uri="{FF2B5EF4-FFF2-40B4-BE49-F238E27FC236}">
                <a16:creationId xmlns:a16="http://schemas.microsoft.com/office/drawing/2014/main" id="{74EE8B5A-AB33-11F3-5611-844F28AB1866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>
            <a:extLst>
              <a:ext uri="{FF2B5EF4-FFF2-40B4-BE49-F238E27FC236}">
                <a16:creationId xmlns:a16="http://schemas.microsoft.com/office/drawing/2014/main" id="{19742A10-2AFF-5FE3-B1F9-176DAF1175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صَلِّ معي</a:t>
            </a:r>
            <a:endParaRPr dirty="0"/>
          </a:p>
        </p:txBody>
      </p:sp>
      <p:sp>
        <p:nvSpPr>
          <p:cNvPr id="501" name="Google Shape;501;p9">
            <a:extLst>
              <a:ext uri="{FF2B5EF4-FFF2-40B4-BE49-F238E27FC236}">
                <a16:creationId xmlns:a16="http://schemas.microsoft.com/office/drawing/2014/main" id="{B36D992C-15E3-3688-425F-295065DCE2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77788" y="1881188"/>
            <a:ext cx="15430500" cy="879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الرؤية المستقبلية للتطبيق: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02" name="Google Shape;502;p9">
            <a:extLst>
              <a:ext uri="{FF2B5EF4-FFF2-40B4-BE49-F238E27FC236}">
                <a16:creationId xmlns:a16="http://schemas.microsoft.com/office/drawing/2014/main" id="{05FA47D2-42EC-ECF3-4B29-3A3D7C3B45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25</a:t>
            </a:fld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E9EB01-5CEE-BB73-4BBE-8D99885141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300" y="2703145"/>
            <a:ext cx="5442857" cy="6555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0FC732-086F-3920-F02D-7523A5A981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6593" y="2911144"/>
            <a:ext cx="5104730" cy="62707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36FA40-31CD-1A42-FF6B-42F3FFB0E2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94509" y="2958467"/>
            <a:ext cx="5001305" cy="622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328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83F"/>
        </a:solidFill>
        <a:effectLst/>
      </p:bgPr>
    </p:bg>
    <p:spTree>
      <p:nvGrpSpPr>
        <p:cNvPr id="1" name="Shape 497">
          <a:extLst>
            <a:ext uri="{FF2B5EF4-FFF2-40B4-BE49-F238E27FC236}">
              <a16:creationId xmlns:a16="http://schemas.microsoft.com/office/drawing/2014/main" id="{21EFCC93-F657-09E1-1E81-D1CF0B440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9">
            <a:extLst>
              <a:ext uri="{FF2B5EF4-FFF2-40B4-BE49-F238E27FC236}">
                <a16:creationId xmlns:a16="http://schemas.microsoft.com/office/drawing/2014/main" id="{08CD55DB-8BFB-7931-7C17-4FE4C040DFEF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p9">
            <a:extLst>
              <a:ext uri="{FF2B5EF4-FFF2-40B4-BE49-F238E27FC236}">
                <a16:creationId xmlns:a16="http://schemas.microsoft.com/office/drawing/2014/main" id="{F5B4E3E0-40E3-03C1-20FB-6250887043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صَلِّ معي</a:t>
            </a:r>
            <a:endParaRPr dirty="0"/>
          </a:p>
        </p:txBody>
      </p:sp>
      <p:sp>
        <p:nvSpPr>
          <p:cNvPr id="501" name="Google Shape;501;p9">
            <a:extLst>
              <a:ext uri="{FF2B5EF4-FFF2-40B4-BE49-F238E27FC236}">
                <a16:creationId xmlns:a16="http://schemas.microsoft.com/office/drawing/2014/main" id="{C86701DF-3B82-9C22-9F5B-63B1BCF43D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09700" y="3901168"/>
            <a:ext cx="15430500" cy="2484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بين أن تعرف الصلاة... وأن تُحسن أداءها</a:t>
            </a:r>
            <a:b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</a:br>
            <a:b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</a:br>
            <a:r>
              <a:rPr lang="ar-SA" sz="45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Readex Pro"/>
                <a:ea typeface="Readex Pro"/>
                <a:cs typeface="Readex Pro"/>
                <a:sym typeface="Readex Pro"/>
              </a:rPr>
              <a:t>وُلِد "صَلِّ معي"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502" name="Google Shape;502;p9">
            <a:extLst>
              <a:ext uri="{FF2B5EF4-FFF2-40B4-BE49-F238E27FC236}">
                <a16:creationId xmlns:a16="http://schemas.microsoft.com/office/drawing/2014/main" id="{1915AA65-9056-9D8D-B04C-66D54F21715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26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2797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Google Shape;68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905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7" name="Google Shape;687;p19"/>
          <p:cNvPicPr preferRelativeResize="0"/>
          <p:nvPr/>
        </p:nvPicPr>
        <p:blipFill rotWithShape="1"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66800" y="693967"/>
            <a:ext cx="3429002" cy="879015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19"/>
          <p:cNvSpPr txBox="1">
            <a:spLocks noGrp="1"/>
          </p:cNvSpPr>
          <p:nvPr>
            <p:ph type="body" idx="1"/>
          </p:nvPr>
        </p:nvSpPr>
        <p:spPr>
          <a:xfrm>
            <a:off x="10363200" y="1028700"/>
            <a:ext cx="64770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ar-SA" sz="18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الخاتمة</a:t>
            </a:r>
            <a:endParaRPr dirty="0"/>
          </a:p>
        </p:txBody>
      </p:sp>
      <p:sp>
        <p:nvSpPr>
          <p:cNvPr id="689" name="Google Shape;689;p19"/>
          <p:cNvSpPr txBox="1">
            <a:spLocks noGrp="1"/>
          </p:cNvSpPr>
          <p:nvPr>
            <p:ph type="title"/>
          </p:nvPr>
        </p:nvSpPr>
        <p:spPr>
          <a:xfrm>
            <a:off x="1409700" y="1809750"/>
            <a:ext cx="15430500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rPr lang="ar-SA" sz="45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فريق العمل</a:t>
            </a:r>
            <a:endParaRPr dirty="0"/>
          </a:p>
        </p:txBody>
      </p:sp>
      <p:sp>
        <p:nvSpPr>
          <p:cNvPr id="690" name="Google Shape;690;p19"/>
          <p:cNvSpPr txBox="1">
            <a:spLocks noGrp="1"/>
          </p:cNvSpPr>
          <p:nvPr>
            <p:ph type="body" idx="2"/>
          </p:nvPr>
        </p:nvSpPr>
        <p:spPr>
          <a:xfrm>
            <a:off x="1409700" y="2857500"/>
            <a:ext cx="15430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</a:pPr>
            <a:r>
              <a:rPr lang="ar-SA" sz="225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فريق </a:t>
            </a:r>
            <a:r>
              <a:rPr lang="ar-SA" sz="2250" dirty="0">
                <a:solidFill>
                  <a:srgbClr val="CBCFE6"/>
                </a:solidFill>
              </a:rPr>
              <a:t>صَلِّ معي</a:t>
            </a:r>
            <a:endParaRPr dirty="0"/>
          </a:p>
        </p:txBody>
      </p:sp>
      <p:sp>
        <p:nvSpPr>
          <p:cNvPr id="691" name="Google Shape;691;p19"/>
          <p:cNvSpPr txBox="1">
            <a:spLocks noGrp="1"/>
          </p:cNvSpPr>
          <p:nvPr>
            <p:ph type="sldNum" idx="12"/>
          </p:nvPr>
        </p:nvSpPr>
        <p:spPr>
          <a:xfrm>
            <a:off x="1066800" y="9467850"/>
            <a:ext cx="9525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SA" sz="1800">
                <a:solidFill>
                  <a:srgbClr val="8E99CC"/>
                </a:solidFill>
                <a:latin typeface="Readex Pro"/>
                <a:ea typeface="Readex Pro"/>
                <a:cs typeface="Readex Pro"/>
                <a:sym typeface="Readex Pro"/>
              </a:rPr>
              <a:t>27</a:t>
            </a:fld>
            <a:endParaRPr dirty="0"/>
          </a:p>
        </p:txBody>
      </p:sp>
      <p:sp>
        <p:nvSpPr>
          <p:cNvPr id="696" name="Google Shape;696;p19"/>
          <p:cNvSpPr txBox="1">
            <a:spLocks noGrp="1"/>
          </p:cNvSpPr>
          <p:nvPr>
            <p:ph type="body" idx="7"/>
          </p:nvPr>
        </p:nvSpPr>
        <p:spPr>
          <a:xfrm>
            <a:off x="9512753" y="6953179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رهف الطير</a:t>
            </a:r>
            <a:endParaRPr dirty="0"/>
          </a:p>
        </p:txBody>
      </p:sp>
      <p:sp>
        <p:nvSpPr>
          <p:cNvPr id="697" name="Google Shape;697;p19"/>
          <p:cNvSpPr txBox="1">
            <a:spLocks noGrp="1"/>
          </p:cNvSpPr>
          <p:nvPr>
            <p:ph type="body" idx="8"/>
          </p:nvPr>
        </p:nvSpPr>
        <p:spPr>
          <a:xfrm>
            <a:off x="9512753" y="7680610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مسؤولة الذكاء الإصطناعي</a:t>
            </a:r>
            <a:endParaRPr dirty="0"/>
          </a:p>
        </p:txBody>
      </p:sp>
      <p:sp>
        <p:nvSpPr>
          <p:cNvPr id="699" name="Google Shape;699;p19"/>
          <p:cNvSpPr txBox="1">
            <a:spLocks noGrp="1"/>
          </p:cNvSpPr>
          <p:nvPr>
            <p:ph type="body" idx="13"/>
          </p:nvPr>
        </p:nvSpPr>
        <p:spPr>
          <a:xfrm>
            <a:off x="13125450" y="6912214"/>
            <a:ext cx="352425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ليان ال</a:t>
            </a:r>
            <a:r>
              <a:rPr lang="ar-SA" sz="2700" b="1" dirty="0">
                <a:solidFill>
                  <a:srgbClr val="F2F4FF"/>
                </a:solidFill>
              </a:rPr>
              <a:t>ع</a:t>
            </a: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صيمي</a:t>
            </a:r>
            <a:endParaRPr dirty="0"/>
          </a:p>
        </p:txBody>
      </p:sp>
      <p:sp>
        <p:nvSpPr>
          <p:cNvPr id="700" name="Google Shape;700;p19"/>
          <p:cNvSpPr txBox="1">
            <a:spLocks noGrp="1"/>
          </p:cNvSpPr>
          <p:nvPr>
            <p:ph type="body" idx="14"/>
          </p:nvPr>
        </p:nvSpPr>
        <p:spPr>
          <a:xfrm>
            <a:off x="5715000" y="7637519"/>
            <a:ext cx="3524250" cy="90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مسؤولة تجربة المستخدم</a:t>
            </a:r>
            <a:endParaRPr dirty="0"/>
          </a:p>
        </p:txBody>
      </p:sp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C213D296-8A75-BEBA-E302-BE3C701AF3F6}"/>
              </a:ext>
            </a:extLst>
          </p:cNvPr>
          <p:cNvPicPr>
            <a:picLocks noGrp="1" noChangeAspect="1"/>
          </p:cNvPicPr>
          <p:nvPr>
            <p:ph type="pic" idx="6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989003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" name="Picture Placeholder 8">
            <a:extLst>
              <a:ext uri="{FF2B5EF4-FFF2-40B4-BE49-F238E27FC236}">
                <a16:creationId xmlns:a16="http://schemas.microsoft.com/office/drawing/2014/main" id="{09831050-E12B-913D-1BBB-A89144EE64F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60170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Picture Placeholder 8">
            <a:extLst>
              <a:ext uri="{FF2B5EF4-FFF2-40B4-BE49-F238E27FC236}">
                <a16:creationId xmlns:a16="http://schemas.microsoft.com/office/drawing/2014/main" id="{B9D03933-1C89-4994-81BF-FC55BDC2154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191250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" name="Picture Placeholder 8">
            <a:extLst>
              <a:ext uri="{FF2B5EF4-FFF2-40B4-BE49-F238E27FC236}">
                <a16:creationId xmlns:a16="http://schemas.microsoft.com/office/drawing/2014/main" id="{257D0A82-4FAA-5875-E0A8-7C79A71D606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245179" y="3857625"/>
            <a:ext cx="2571750" cy="2571750"/>
          </a:xfrm>
          <a:prstGeom prst="rect">
            <a:avLst/>
          </a:prstGeom>
          <a:solidFill>
            <a:srgbClr val="161D48"/>
          </a:solidFill>
          <a:ln w="11425" cap="flat" cmpd="sng">
            <a:solidFill>
              <a:srgbClr val="4A559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3B56164-F02C-223C-C2C8-357C152A9AED}"/>
              </a:ext>
            </a:extLst>
          </p:cNvPr>
          <p:cNvSpPr txBox="1"/>
          <p:nvPr/>
        </p:nvSpPr>
        <p:spPr>
          <a:xfrm>
            <a:off x="2781301" y="6866022"/>
            <a:ext cx="93072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ليان الزهراني</a:t>
            </a:r>
            <a:endParaRPr lang="ar-SA" sz="1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CB7F27-0BB0-87FA-22EF-BE2B890ED83B}"/>
              </a:ext>
            </a:extLst>
          </p:cNvPr>
          <p:cNvSpPr txBox="1"/>
          <p:nvPr/>
        </p:nvSpPr>
        <p:spPr>
          <a:xfrm>
            <a:off x="-1122588" y="6866021"/>
            <a:ext cx="930728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1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خديجة العمودي</a:t>
            </a:r>
            <a:endParaRPr lang="ar-SA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F5AB0D-C30A-8D99-F419-2DCBA714EA0C}"/>
              </a:ext>
            </a:extLst>
          </p:cNvPr>
          <p:cNvSpPr txBox="1"/>
          <p:nvPr/>
        </p:nvSpPr>
        <p:spPr>
          <a:xfrm>
            <a:off x="12913859" y="7618496"/>
            <a:ext cx="3947432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dirty="0">
                <a:solidFill>
                  <a:srgbClr val="2EF2C2"/>
                </a:solidFill>
                <a:latin typeface="Readex Pro"/>
                <a:cs typeface="Readex Pro"/>
                <a:sym typeface="Readex Pro"/>
              </a:rPr>
              <a:t>قائدة الفريق ومسؤولة المحتوى</a:t>
            </a:r>
            <a:endParaRPr lang="ar-SA" sz="1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30BE18-02BA-D511-C865-E14C6A8C71E1}"/>
              </a:ext>
            </a:extLst>
          </p:cNvPr>
          <p:cNvSpPr txBox="1"/>
          <p:nvPr/>
        </p:nvSpPr>
        <p:spPr>
          <a:xfrm>
            <a:off x="1533186" y="7572304"/>
            <a:ext cx="3995735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dirty="0">
                <a:solidFill>
                  <a:srgbClr val="2EF2C2"/>
                </a:solidFill>
                <a:latin typeface="Readex Pro"/>
                <a:cs typeface="Readex Pro"/>
                <a:sym typeface="Readex Pro"/>
              </a:rPr>
              <a:t>مسؤولة بناء النظام</a:t>
            </a:r>
            <a:endParaRPr lang="ar-SA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Google Shape;914;p31" title="خلفية هكثون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5" name="Google Shape;915;p31"/>
          <p:cNvSpPr txBox="1">
            <a:spLocks noGrp="1"/>
          </p:cNvSpPr>
          <p:nvPr>
            <p:ph type="body" idx="1"/>
          </p:nvPr>
        </p:nvSpPr>
        <p:spPr>
          <a:xfrm>
            <a:off x="3810000" y="5676900"/>
            <a:ext cx="10668000" cy="7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00"/>
              <a:buNone/>
            </a:pPr>
            <a:r>
              <a:rPr lang="ar-SA" sz="27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صَلِّ معي | </a:t>
            </a:r>
            <a:r>
              <a:rPr lang="ar-SA" sz="2700" b="0" dirty="0" err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Pray</a:t>
            </a:r>
            <a:r>
              <a:rPr lang="ar-SA" sz="27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ar-SA" sz="2700" b="0" dirty="0" err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With</a:t>
            </a:r>
            <a:r>
              <a:rPr lang="ar-SA" sz="2700" b="0" dirty="0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 </a:t>
            </a:r>
            <a:r>
              <a:rPr lang="ar-SA" sz="2700" b="0" dirty="0" err="1">
                <a:solidFill>
                  <a:srgbClr val="F2F4FF"/>
                </a:solidFill>
                <a:latin typeface="Readex Pro"/>
                <a:ea typeface="Readex Pro"/>
                <a:cs typeface="Readex Pro"/>
                <a:sym typeface="Readex Pro"/>
              </a:rPr>
              <a:t>Me</a:t>
            </a:r>
            <a:endParaRPr dirty="0"/>
          </a:p>
        </p:txBody>
      </p:sp>
      <p:sp>
        <p:nvSpPr>
          <p:cNvPr id="916" name="Google Shape;916;p31"/>
          <p:cNvSpPr txBox="1">
            <a:spLocks noGrp="1"/>
          </p:cNvSpPr>
          <p:nvPr>
            <p:ph type="body" idx="2"/>
          </p:nvPr>
        </p:nvSpPr>
        <p:spPr>
          <a:xfrm>
            <a:off x="3810000" y="6653200"/>
            <a:ext cx="10668000" cy="6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ar-SA" sz="2100" b="0" dirty="0">
                <a:solidFill>
                  <a:srgbClr val="CBCFE6"/>
                </a:solidFill>
                <a:latin typeface="Readex Pro"/>
                <a:ea typeface="Readex Pro"/>
                <a:cs typeface="Readex Pro"/>
                <a:sym typeface="Readex Pro"/>
              </a:rPr>
              <a:t>فريق </a:t>
            </a:r>
            <a:r>
              <a:rPr lang="ar-SA" sz="2100" dirty="0">
                <a:solidFill>
                  <a:srgbClr val="CBCFE6"/>
                </a:solidFill>
              </a:rPr>
              <a:t>صَلِّ معي</a:t>
            </a:r>
            <a:endParaRPr dirty="0"/>
          </a:p>
        </p:txBody>
      </p:sp>
      <p:sp>
        <p:nvSpPr>
          <p:cNvPr id="917" name="Google Shape;917;p31"/>
          <p:cNvSpPr txBox="1">
            <a:spLocks noGrp="1"/>
          </p:cNvSpPr>
          <p:nvPr>
            <p:ph type="title"/>
          </p:nvPr>
        </p:nvSpPr>
        <p:spPr>
          <a:xfrm>
            <a:off x="3810000" y="3819525"/>
            <a:ext cx="10668000" cy="14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</a:pPr>
            <a:r>
              <a:rPr lang="ar-SA" sz="7200" b="1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شكراً لكم</a:t>
            </a:r>
            <a:endParaRPr/>
          </a:p>
        </p:txBody>
      </p:sp>
      <p:pic>
        <p:nvPicPr>
          <p:cNvPr id="918" name="Google Shape;918;p31" title="شعار الهاكثون لايت.png"/>
          <p:cNvPicPr preferRelativeResize="0"/>
          <p:nvPr/>
        </p:nvPicPr>
        <p:blipFill>
          <a:blip r:embed="rId4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8450" y="1277075"/>
            <a:ext cx="6546002" cy="167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3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237879" y="1460433"/>
            <a:ext cx="1891696" cy="1195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0" name="Google Shape;920;p31" title="شعار عام الذكاء الاصطناعي.png"/>
          <p:cNvPicPr preferRelativeResize="0"/>
          <p:nvPr/>
        </p:nvPicPr>
        <p:blipFill>
          <a:blip r:embed="rId6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6994" y="1261812"/>
            <a:ext cx="2908672" cy="1708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1" name="Google Shape;921;p31" title="شعار سدايا.png"/>
          <p:cNvPicPr preferRelativeResize="0"/>
          <p:nvPr/>
        </p:nvPicPr>
        <p:blipFill>
          <a:blip r:embed="rId7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50489" y="7716733"/>
            <a:ext cx="2292680" cy="13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31" title="شعار فيوتشر.png"/>
          <p:cNvPicPr preferRelativeResize="0"/>
          <p:nvPr/>
        </p:nvPicPr>
        <p:blipFill>
          <a:blip r:embed="rId8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9331" y="7929122"/>
            <a:ext cx="1570852" cy="921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3" name="Google Shape;923;p31" title="شعار التحول.png"/>
          <p:cNvPicPr preferRelativeResize="0"/>
          <p:nvPr/>
        </p:nvPicPr>
        <p:blipFill>
          <a:blip r:embed="rId9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3933" y="7875719"/>
            <a:ext cx="1752806" cy="1028753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31"/>
          <p:cNvSpPr txBox="1"/>
          <p:nvPr/>
        </p:nvSpPr>
        <p:spPr>
          <a:xfrm>
            <a:off x="14046675" y="8254733"/>
            <a:ext cx="1062000" cy="2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ar-SA" sz="1800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شركاؤنا</a:t>
            </a:r>
            <a:r>
              <a:rPr lang="ar-SA">
                <a:solidFill>
                  <a:srgbClr val="2EF2C2"/>
                </a:solidFill>
                <a:latin typeface="Readex Pro"/>
                <a:ea typeface="Readex Pro"/>
                <a:cs typeface="Readex Pro"/>
                <a:sym typeface="Readex Pro"/>
              </a:rPr>
              <a:t>:</a:t>
            </a:r>
            <a:endParaRPr sz="1800">
              <a:solidFill>
                <a:srgbClr val="2EF2C2"/>
              </a:solidFill>
              <a:latin typeface="Readex Pro"/>
              <a:ea typeface="Readex Pro"/>
              <a:cs typeface="Readex Pro"/>
              <a:sym typeface="Readex Pro"/>
            </a:endParaRPr>
          </a:p>
        </p:txBody>
      </p:sp>
      <p:cxnSp>
        <p:nvCxnSpPr>
          <p:cNvPr id="925" name="Google Shape;925;p31"/>
          <p:cNvCxnSpPr/>
          <p:nvPr/>
        </p:nvCxnSpPr>
        <p:spPr>
          <a:xfrm>
            <a:off x="7456246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6" name="Google Shape;926;p31"/>
          <p:cNvCxnSpPr/>
          <p:nvPr/>
        </p:nvCxnSpPr>
        <p:spPr>
          <a:xfrm>
            <a:off x="5075007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927" name="Google Shape;927;p31" title="شعار وزارة الاتصالات.png"/>
          <p:cNvPicPr preferRelativeResize="0"/>
          <p:nvPr/>
        </p:nvPicPr>
        <p:blipFill>
          <a:blip r:embed="rId10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02750" y="7979050"/>
            <a:ext cx="3035650" cy="847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28" name="Google Shape;928;p31"/>
          <p:cNvCxnSpPr/>
          <p:nvPr/>
        </p:nvCxnSpPr>
        <p:spPr>
          <a:xfrm>
            <a:off x="10366904" y="8142400"/>
            <a:ext cx="0" cy="453600"/>
          </a:xfrm>
          <a:prstGeom prst="straightConnector1">
            <a:avLst/>
          </a:prstGeom>
          <a:noFill/>
          <a:ln w="9525" cap="flat" cmpd="sng">
            <a:solidFill>
              <a:srgbClr val="2EF2C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910</TotalTime>
  <Words>1993</Words>
  <Application>Microsoft Office PowerPoint</Application>
  <PresentationFormat>Custom</PresentationFormat>
  <Paragraphs>324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Readex Pro</vt:lpstr>
      <vt:lpstr>Readex Pro Light</vt:lpstr>
      <vt:lpstr>Arial</vt:lpstr>
      <vt:lpstr>Office Theme</vt:lpstr>
      <vt:lpstr>صَلِّ معي |   Pray With Me </vt:lpstr>
      <vt:lpstr>محتويات العرض</vt:lpstr>
      <vt:lpstr>المشكلة</vt:lpstr>
      <vt:lpstr>PowerPoint Presentation</vt:lpstr>
      <vt:lpstr>كيف يعرف أنه يطبق ما تعلمه بشكل صحيح؟</vt:lpstr>
      <vt:lpstr>المسلمون حول العالم: فئة تنمو، وفجوة تزداد</vt:lpstr>
      <vt:lpstr>الحل</vt:lpstr>
      <vt:lpstr>صَلِّ معي | Pray With Me</vt:lpstr>
      <vt:lpstr>تقومُ الفكرة على:</vt:lpstr>
      <vt:lpstr>آلية عمل الحل</vt:lpstr>
      <vt:lpstr>القيمة والأثر</vt:lpstr>
      <vt:lpstr>تعلم الصلاة عبر الإنترنت:</vt:lpstr>
      <vt:lpstr>تعلم الصلاة عبر التطبيقات:</vt:lpstr>
      <vt:lpstr>تعلم الصلاة عبر صَلِّ معي | Pray With Me:</vt:lpstr>
      <vt:lpstr>سدّ الفجوة بين التعلّم النظري والممارسة التطبيقية</vt:lpstr>
      <vt:lpstr>التقنيات المستخدمة</vt:lpstr>
      <vt:lpstr>كيف يعمل صَلِّ معي | Pray With Me؟ </vt:lpstr>
      <vt:lpstr>كيف يعمل صَلِّ معي | Pray With Me؟ </vt:lpstr>
      <vt:lpstr>الأدوات التي بُني بها المشروع:</vt:lpstr>
      <vt:lpstr>النتائج</vt:lpstr>
      <vt:lpstr>النتائج المحققة:</vt:lpstr>
      <vt:lpstr>خطة الاستمرار</vt:lpstr>
      <vt:lpstr>خطة الاستمرار</vt:lpstr>
      <vt:lpstr>الرؤية المستقبلية للتطبيق:</vt:lpstr>
      <vt:lpstr>الرؤية المستقبلية للتطبيق:</vt:lpstr>
      <vt:lpstr>بين أن تعرف الصلاة... وأن تُحسن أداءها  وُلِد "صَلِّ معي"</vt:lpstr>
      <vt:lpstr>فريق العمل</vt:lpstr>
      <vt:lpstr>شكراً لكم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layan alotaibi</dc:creator>
  <cp:lastModifiedBy>ليان مرزوق بن عواض العتيبي</cp:lastModifiedBy>
  <cp:revision>17</cp:revision>
  <dcterms:modified xsi:type="dcterms:W3CDTF">2026-10-06T16:13:35Z</dcterms:modified>
</cp:coreProperties>
</file>